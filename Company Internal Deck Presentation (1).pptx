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8288000" cy="10287000"/>
  <p:notesSz cx="6858000" cy="9144000"/>
  <p:embeddedFontLst>
    <p:embeddedFont>
      <p:font typeface="Fira Sans Bold" panose="020B0803050000020004"/>
      <p:bold r:id="rId26"/>
    </p:embeddedFont>
    <p:embeddedFont>
      <p:font typeface="Fira Sans" panose="020B0503050000020004"/>
      <p:regular r:id="rId27"/>
    </p:embeddedFont>
    <p:embeddedFont>
      <p:font typeface="Be Vietnam Medium" panose="00000600000000000000"/>
      <p:regular r:id="rId28"/>
    </p:embeddedFont>
    <p:embeddedFont>
      <p:font typeface="Finger Paint" panose="020B0506040000020004"/>
      <p:regular r:id="rId29"/>
    </p:embeddedFont>
    <p:embeddedFont>
      <p:font typeface="Fira Sans Medium" panose="020B0603050000020004"/>
      <p:regular r:id="rId30"/>
    </p:embeddedFont>
    <p:embeddedFont>
      <p:font typeface="Calibri" panose="020F050202020403020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font" Target="fonts/font9.fntdata"/><Relationship Id="rId33" Type="http://schemas.openxmlformats.org/officeDocument/2006/relationships/font" Target="fonts/font8.fntdata"/><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376729"/>
            <a:ext cx="18287661" cy="9531073"/>
          </a:xfrm>
          <a:prstGeom prst="rect">
            <a:avLst/>
          </a:prstGeom>
          <a:solidFill>
            <a:srgbClr val="F4F4F4"/>
          </a:solidFill>
        </p:spPr>
      </p:sp>
      <p:grpSp>
        <p:nvGrpSpPr>
          <p:cNvPr id="3" name="Group 3"/>
          <p:cNvGrpSpPr/>
          <p:nvPr/>
        </p:nvGrpSpPr>
        <p:grpSpPr>
          <a:xfrm rot="0">
            <a:off x="364270" y="2287294"/>
            <a:ext cx="9828281" cy="3125163"/>
            <a:chOff x="0" y="0"/>
            <a:chExt cx="13104375" cy="4166884"/>
          </a:xfrm>
        </p:grpSpPr>
        <p:sp>
          <p:nvSpPr>
            <p:cNvPr id="4" name="TextBox 4"/>
            <p:cNvSpPr txBox="1"/>
            <p:nvPr/>
          </p:nvSpPr>
          <p:spPr>
            <a:xfrm>
              <a:off x="0" y="0"/>
              <a:ext cx="13104375" cy="3082980"/>
            </a:xfrm>
            <a:prstGeom prst="rect">
              <a:avLst/>
            </a:prstGeom>
          </p:spPr>
          <p:txBody>
            <a:bodyPr lIns="0" tIns="0" rIns="0" bIns="0" rtlCol="0" anchor="t">
              <a:spAutoFit/>
            </a:bodyPr>
            <a:lstStyle/>
            <a:p>
              <a:pPr algn="l">
                <a:lnSpc>
                  <a:spcPts val="9135"/>
                </a:lnSpc>
              </a:pPr>
              <a:r>
                <a:rPr lang="en-US" sz="7610">
                  <a:solidFill>
                    <a:srgbClr val="000000"/>
                  </a:solidFill>
                  <a:latin typeface="Fira Sans Bold" panose="020B0803050000020004"/>
                </a:rPr>
                <a:t>E-COMMERCE MANAGEMENT SYSTEM</a:t>
              </a:r>
              <a:endParaRPr lang="en-US" sz="7610">
                <a:solidFill>
                  <a:srgbClr val="000000"/>
                </a:solidFill>
                <a:latin typeface="Fira Sans Bold" panose="020B0803050000020004"/>
              </a:endParaRPr>
            </a:p>
          </p:txBody>
        </p:sp>
        <p:sp>
          <p:nvSpPr>
            <p:cNvPr id="5" name="TextBox 5"/>
            <p:cNvSpPr txBox="1"/>
            <p:nvPr/>
          </p:nvSpPr>
          <p:spPr>
            <a:xfrm>
              <a:off x="0" y="3397975"/>
              <a:ext cx="13104375" cy="768909"/>
            </a:xfrm>
            <a:prstGeom prst="rect">
              <a:avLst/>
            </a:prstGeom>
          </p:spPr>
          <p:txBody>
            <a:bodyPr lIns="0" tIns="0" rIns="0" bIns="0" rtlCol="0" anchor="t">
              <a:spAutoFit/>
            </a:bodyPr>
            <a:lstStyle/>
            <a:p>
              <a:pPr algn="l">
                <a:lnSpc>
                  <a:spcPts val="4855"/>
                </a:lnSpc>
              </a:pPr>
            </a:p>
          </p:txBody>
        </p:sp>
      </p:grpSp>
      <p:grpSp>
        <p:nvGrpSpPr>
          <p:cNvPr id="6" name="Group 6"/>
          <p:cNvGrpSpPr/>
          <p:nvPr/>
        </p:nvGrpSpPr>
        <p:grpSpPr>
          <a:xfrm rot="0">
            <a:off x="11924427" y="2066022"/>
            <a:ext cx="6363234" cy="5510591"/>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sp>
      </p:grpSp>
      <p:grpSp>
        <p:nvGrpSpPr>
          <p:cNvPr id="8" name="Group 8"/>
          <p:cNvGrpSpPr/>
          <p:nvPr/>
        </p:nvGrpSpPr>
        <p:grpSpPr>
          <a:xfrm rot="0">
            <a:off x="10007072" y="6166733"/>
            <a:ext cx="4319916" cy="3741068"/>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id="10" name="Group 10"/>
          <p:cNvGrpSpPr/>
          <p:nvPr/>
        </p:nvGrpSpPr>
        <p:grpSpPr>
          <a:xfrm rot="0">
            <a:off x="10192551" y="5227781"/>
            <a:ext cx="1974479" cy="1709908"/>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sp>
      </p:grpSp>
      <p:grpSp>
        <p:nvGrpSpPr>
          <p:cNvPr id="12" name="Group 12"/>
          <p:cNvGrpSpPr/>
          <p:nvPr/>
        </p:nvGrpSpPr>
        <p:grpSpPr>
          <a:xfrm rot="0">
            <a:off x="11410632" y="376729"/>
            <a:ext cx="3302520" cy="2859998"/>
            <a:chOff x="0" y="0"/>
            <a:chExt cx="3619627" cy="3134614"/>
          </a:xfrm>
        </p:grpSpPr>
        <p:sp>
          <p:nvSpPr>
            <p:cNvPr id="13" name="Freeform 1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id="14" name="Group 14"/>
          <p:cNvGrpSpPr/>
          <p:nvPr/>
        </p:nvGrpSpPr>
        <p:grpSpPr>
          <a:xfrm rot="0">
            <a:off x="364270" y="946118"/>
            <a:ext cx="3661684" cy="509508"/>
            <a:chOff x="0" y="0"/>
            <a:chExt cx="4882246" cy="679344"/>
          </a:xfrm>
        </p:grpSpPr>
        <p:sp>
          <p:nvSpPr>
            <p:cNvPr id="15" name="TextBox 15"/>
            <p:cNvSpPr txBox="1"/>
            <p:nvPr/>
          </p:nvSpPr>
          <p:spPr>
            <a:xfrm>
              <a:off x="1124670" y="-53246"/>
              <a:ext cx="3757576" cy="719162"/>
            </a:xfrm>
            <a:prstGeom prst="rect">
              <a:avLst/>
            </a:prstGeom>
          </p:spPr>
          <p:txBody>
            <a:bodyPr lIns="0" tIns="0" rIns="0" bIns="0" rtlCol="0" anchor="t">
              <a:spAutoFit/>
            </a:bodyPr>
            <a:lstStyle/>
            <a:p>
              <a:pPr algn="l">
                <a:lnSpc>
                  <a:spcPts val="4525"/>
                </a:lnSpc>
                <a:spcBef>
                  <a:spcPct val="0"/>
                </a:spcBef>
              </a:pPr>
              <a:r>
                <a:rPr lang="en-US" sz="3235">
                  <a:solidFill>
                    <a:srgbClr val="000000"/>
                  </a:solidFill>
                  <a:latin typeface="Fira Sans Bold" panose="020B0803050000020004"/>
                </a:rPr>
                <a:t>DBMS PROJECT</a:t>
              </a:r>
              <a:endParaRPr lang="en-US" sz="3235">
                <a:solidFill>
                  <a:srgbClr val="000000"/>
                </a:solidFill>
                <a:latin typeface="Fira Sans Bold" panose="020B0803050000020004"/>
              </a:endParaRPr>
            </a:p>
          </p:txBody>
        </p:sp>
        <p:sp>
          <p:nvSpPr>
            <p:cNvPr id="16" name="Freeform 16"/>
            <p:cNvSpPr/>
            <p:nvPr/>
          </p:nvSpPr>
          <p:spPr>
            <a:xfrm>
              <a:off x="0" y="0"/>
              <a:ext cx="786609" cy="679344"/>
            </a:xfrm>
            <a:custGeom>
              <a:avLst/>
              <a:gdLst/>
              <a:ahLst/>
              <a:cxnLst/>
              <a:rect l="l" t="t" r="r" b="b"/>
              <a:pathLst>
                <a:path w="786609" h="679344">
                  <a:moveTo>
                    <a:pt x="0" y="0"/>
                  </a:moveTo>
                  <a:lnTo>
                    <a:pt x="786609" y="0"/>
                  </a:lnTo>
                  <a:lnTo>
                    <a:pt x="786609" y="679344"/>
                  </a:lnTo>
                  <a:lnTo>
                    <a:pt x="0" y="6793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sp>
        <p:nvSpPr>
          <p:cNvPr id="17" name="TextBox 17"/>
          <p:cNvSpPr txBox="1"/>
          <p:nvPr/>
        </p:nvSpPr>
        <p:spPr>
          <a:xfrm>
            <a:off x="0" y="5583451"/>
            <a:ext cx="9536057" cy="2479675"/>
          </a:xfrm>
          <a:prstGeom prst="rect">
            <a:avLst/>
          </a:prstGeom>
        </p:spPr>
        <p:txBody>
          <a:bodyPr lIns="0" tIns="0" rIns="0" bIns="0" rtlCol="0" anchor="t">
            <a:spAutoFit/>
          </a:bodyPr>
          <a:lstStyle/>
          <a:p>
            <a:pPr algn="ctr">
              <a:lnSpc>
                <a:spcPts val="5020"/>
              </a:lnSpc>
            </a:pPr>
            <a:r>
              <a:rPr lang="en-US" sz="4185">
                <a:solidFill>
                  <a:srgbClr val="000000"/>
                </a:solidFill>
                <a:latin typeface="Fira Sans Bold" panose="020B0803050000020004"/>
              </a:rPr>
              <a:t>MADE BY:</a:t>
            </a:r>
            <a:endParaRPr lang="en-US" sz="4185">
              <a:solidFill>
                <a:srgbClr val="000000"/>
              </a:solidFill>
              <a:latin typeface="Fira Sans Bold" panose="020B0803050000020004"/>
            </a:endParaRPr>
          </a:p>
          <a:p>
            <a:pPr algn="ctr">
              <a:lnSpc>
                <a:spcPts val="5020"/>
              </a:lnSpc>
            </a:pPr>
            <a:r>
              <a:rPr lang="en-US" sz="4185">
                <a:solidFill>
                  <a:srgbClr val="000000"/>
                </a:solidFill>
                <a:latin typeface="Fira Sans Bold" panose="020B0803050000020004"/>
              </a:rPr>
              <a:t>MUHAMMAD HAMZA KHAN(DT-48)</a:t>
            </a:r>
            <a:endParaRPr lang="en-US" sz="4185">
              <a:solidFill>
                <a:srgbClr val="000000"/>
              </a:solidFill>
              <a:latin typeface="Fira Sans Bold" panose="020B0803050000020004"/>
            </a:endParaRPr>
          </a:p>
          <a:p>
            <a:pPr algn="l">
              <a:lnSpc>
                <a:spcPts val="2325"/>
              </a:lnSpc>
            </a:pPr>
          </a:p>
          <a:p>
            <a:pPr algn="l">
              <a:lnSpc>
                <a:spcPts val="2325"/>
              </a:lnSpc>
            </a:pPr>
          </a:p>
          <a:p>
            <a:pPr algn="l">
              <a:lnSpc>
                <a:spcPts val="2325"/>
              </a:lnSpc>
            </a:pPr>
          </a:p>
          <a:p>
            <a:pPr algn="l">
              <a:lnSpc>
                <a:spcPts val="2325"/>
              </a:lnSpc>
            </a:pPr>
          </a:p>
        </p:txBody>
      </p:sp>
      <p:sp>
        <p:nvSpPr>
          <p:cNvPr id="18" name="TextBox 18"/>
          <p:cNvSpPr txBox="1"/>
          <p:nvPr/>
        </p:nvSpPr>
        <p:spPr>
          <a:xfrm>
            <a:off x="178791" y="8446683"/>
            <a:ext cx="8965209" cy="547101"/>
          </a:xfrm>
          <a:prstGeom prst="rect">
            <a:avLst/>
          </a:prstGeom>
        </p:spPr>
        <p:txBody>
          <a:bodyPr lIns="0" tIns="0" rIns="0" bIns="0" rtlCol="0" anchor="t">
            <a:spAutoFit/>
          </a:bodyPr>
          <a:lstStyle/>
          <a:p>
            <a:pPr algn="l">
              <a:lnSpc>
                <a:spcPts val="4430"/>
              </a:lnSpc>
            </a:pPr>
          </a:p>
        </p:txBody>
      </p:sp>
      <p:sp>
        <p:nvSpPr>
          <p:cNvPr id="19" name="TextBox 19"/>
          <p:cNvSpPr txBox="1"/>
          <p:nvPr/>
        </p:nvSpPr>
        <p:spPr>
          <a:xfrm>
            <a:off x="1207772" y="1441823"/>
            <a:ext cx="2818182" cy="364904"/>
          </a:xfrm>
          <a:prstGeom prst="rect">
            <a:avLst/>
          </a:prstGeom>
        </p:spPr>
        <p:txBody>
          <a:bodyPr lIns="0" tIns="0" rIns="0" bIns="0" rtlCol="0" anchor="t">
            <a:spAutoFit/>
          </a:bodyPr>
          <a:lstStyle/>
          <a:p>
            <a:pPr algn="l">
              <a:lnSpc>
                <a:spcPts val="2985"/>
              </a:lnSpc>
              <a:spcBef>
                <a:spcPct val="0"/>
              </a:spcBef>
            </a:pPr>
            <a:r>
              <a:rPr lang="en-US" sz="2135">
                <a:solidFill>
                  <a:srgbClr val="000000"/>
                </a:solidFill>
                <a:latin typeface="Fira Sans" panose="020B0503050000020004"/>
              </a:rPr>
              <a:t>course code: CT-261</a:t>
            </a:r>
            <a:endParaRPr lang="en-US" sz="2135">
              <a:solidFill>
                <a:srgbClr val="000000"/>
              </a:solidFill>
              <a:latin typeface="Fira Sans" panose="020B050305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689571">
            <a:off x="12939732" y="-1577438"/>
            <a:ext cx="3086100" cy="7144088"/>
            <a:chOff x="0" y="0"/>
            <a:chExt cx="812800" cy="1881571"/>
          </a:xfrm>
        </p:grpSpPr>
        <p:sp>
          <p:nvSpPr>
            <p:cNvPr id="3" name="Freeform 3"/>
            <p:cNvSpPr/>
            <p:nvPr/>
          </p:nvSpPr>
          <p:spPr>
            <a:xfrm>
              <a:off x="0" y="0"/>
              <a:ext cx="812800" cy="1881571"/>
            </a:xfrm>
            <a:custGeom>
              <a:avLst/>
              <a:gdLst/>
              <a:ahLst/>
              <a:cxnLst/>
              <a:rect l="l" t="t" r="r" b="b"/>
              <a:pathLst>
                <a:path w="812800" h="1881571">
                  <a:moveTo>
                    <a:pt x="0" y="0"/>
                  </a:moveTo>
                  <a:lnTo>
                    <a:pt x="812800" y="0"/>
                  </a:lnTo>
                  <a:lnTo>
                    <a:pt x="812800" y="1881571"/>
                  </a:lnTo>
                  <a:lnTo>
                    <a:pt x="0" y="1881571"/>
                  </a:lnTo>
                  <a:close/>
                </a:path>
              </a:pathLst>
            </a:custGeom>
            <a:solidFill>
              <a:srgbClr val="262262"/>
            </a:solidFill>
          </p:spPr>
        </p:sp>
        <p:sp>
          <p:nvSpPr>
            <p:cNvPr id="4" name="TextBox 4"/>
            <p:cNvSpPr txBox="1"/>
            <p:nvPr/>
          </p:nvSpPr>
          <p:spPr>
            <a:xfrm>
              <a:off x="0" y="-47625"/>
              <a:ext cx="812800" cy="1929196"/>
            </a:xfrm>
            <a:prstGeom prst="rect">
              <a:avLst/>
            </a:prstGeom>
          </p:spPr>
          <p:txBody>
            <a:bodyPr lIns="50800" tIns="50800" rIns="50800" bIns="50800" rtlCol="0" anchor="ctr"/>
            <a:lstStyle/>
            <a:p>
              <a:pPr algn="ctr">
                <a:lnSpc>
                  <a:spcPts val="2800"/>
                </a:lnSpc>
              </a:pPr>
            </a:p>
          </p:txBody>
        </p:sp>
      </p:grpSp>
      <p:sp>
        <p:nvSpPr>
          <p:cNvPr id="5" name="Freeform 5"/>
          <p:cNvSpPr/>
          <p:nvPr/>
        </p:nvSpPr>
        <p:spPr>
          <a:xfrm flipV="1">
            <a:off x="11582150" y="-457538"/>
            <a:ext cx="7026757" cy="11202077"/>
          </a:xfrm>
          <a:custGeom>
            <a:avLst/>
            <a:gdLst/>
            <a:ahLst/>
            <a:cxnLst/>
            <a:rect l="l" t="t" r="r" b="b"/>
            <a:pathLst>
              <a:path w="7026757" h="11202077">
                <a:moveTo>
                  <a:pt x="0" y="11202076"/>
                </a:moveTo>
                <a:lnTo>
                  <a:pt x="7026757" y="11202076"/>
                </a:lnTo>
                <a:lnTo>
                  <a:pt x="7026757" y="0"/>
                </a:lnTo>
                <a:lnTo>
                  <a:pt x="0" y="0"/>
                </a:lnTo>
                <a:lnTo>
                  <a:pt x="0" y="11202076"/>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rot="0">
            <a:off x="223254" y="1725865"/>
            <a:ext cx="11717880" cy="8292394"/>
            <a:chOff x="0" y="0"/>
            <a:chExt cx="3682039" cy="2605669"/>
          </a:xfrm>
        </p:grpSpPr>
        <p:sp>
          <p:nvSpPr>
            <p:cNvPr id="7" name="Freeform 7"/>
            <p:cNvSpPr/>
            <p:nvPr/>
          </p:nvSpPr>
          <p:spPr>
            <a:xfrm>
              <a:off x="0" y="0"/>
              <a:ext cx="3682039" cy="2605669"/>
            </a:xfrm>
            <a:custGeom>
              <a:avLst/>
              <a:gdLst/>
              <a:ahLst/>
              <a:cxnLst/>
              <a:rect l="l" t="t" r="r" b="b"/>
              <a:pathLst>
                <a:path w="3682039" h="2605669">
                  <a:moveTo>
                    <a:pt x="9250" y="0"/>
                  </a:moveTo>
                  <a:lnTo>
                    <a:pt x="3672789" y="0"/>
                  </a:lnTo>
                  <a:cubicBezTo>
                    <a:pt x="3675242" y="0"/>
                    <a:pt x="3677595" y="975"/>
                    <a:pt x="3679330" y="2709"/>
                  </a:cubicBezTo>
                  <a:cubicBezTo>
                    <a:pt x="3681064" y="4444"/>
                    <a:pt x="3682039" y="6797"/>
                    <a:pt x="3682039" y="9250"/>
                  </a:cubicBezTo>
                  <a:lnTo>
                    <a:pt x="3682039" y="2596419"/>
                  </a:lnTo>
                  <a:cubicBezTo>
                    <a:pt x="3682039" y="2601528"/>
                    <a:pt x="3677898" y="2605669"/>
                    <a:pt x="3672789" y="2605669"/>
                  </a:cubicBezTo>
                  <a:lnTo>
                    <a:pt x="9250" y="2605669"/>
                  </a:lnTo>
                  <a:cubicBezTo>
                    <a:pt x="4141" y="2605669"/>
                    <a:pt x="0" y="2601528"/>
                    <a:pt x="0" y="2596419"/>
                  </a:cubicBezTo>
                  <a:lnTo>
                    <a:pt x="0" y="9250"/>
                  </a:lnTo>
                  <a:cubicBezTo>
                    <a:pt x="0" y="4141"/>
                    <a:pt x="4141" y="0"/>
                    <a:pt x="9250" y="0"/>
                  </a:cubicBezTo>
                  <a:close/>
                </a:path>
              </a:pathLst>
            </a:custGeom>
            <a:solidFill>
              <a:srgbClr val="000000">
                <a:alpha val="0"/>
              </a:srgbClr>
            </a:solidFill>
            <a:ln cap="sq">
              <a:noFill/>
              <a:prstDash val="solid"/>
              <a:miter/>
            </a:ln>
          </p:spPr>
        </p:sp>
        <p:sp>
          <p:nvSpPr>
            <p:cNvPr id="8" name="TextBox 8"/>
            <p:cNvSpPr txBox="1"/>
            <p:nvPr/>
          </p:nvSpPr>
          <p:spPr>
            <a:xfrm>
              <a:off x="0" y="-66675"/>
              <a:ext cx="3682039" cy="2672344"/>
            </a:xfrm>
            <a:prstGeom prst="rect">
              <a:avLst/>
            </a:prstGeom>
          </p:spPr>
          <p:txBody>
            <a:bodyPr lIns="50800" tIns="50800" rIns="50800" bIns="50800" rtlCol="0" anchor="ctr"/>
            <a:lstStyle/>
            <a:p>
              <a:pPr algn="l">
                <a:lnSpc>
                  <a:spcPts val="5880"/>
                </a:lnSpc>
              </a:pPr>
              <a:r>
                <a:rPr lang="en-US" sz="4200">
                  <a:solidFill>
                    <a:srgbClr val="01003B"/>
                  </a:solidFill>
                  <a:latin typeface="Be Vietnam Medium" panose="00000600000000000000"/>
                </a:rPr>
                <a:t>This project outlines the design and implementation of an E- commerce  Management database, aimed at supporting the operations of an e-commerce plattform. The database schema is carefully designed to capture various aspects of the E-commerce business, including customer details, seller information, product inventory, shopping carts, orders, payments, and more</a:t>
              </a:r>
              <a:endParaRPr lang="en-US" sz="4200">
                <a:solidFill>
                  <a:srgbClr val="01003B"/>
                </a:solidFill>
                <a:latin typeface="Be Vietnam Medium" panose="00000600000000000000"/>
              </a:endParaRPr>
            </a:p>
          </p:txBody>
        </p:sp>
      </p:grpSp>
      <p:grpSp>
        <p:nvGrpSpPr>
          <p:cNvPr id="9" name="Group 9"/>
          <p:cNvGrpSpPr/>
          <p:nvPr/>
        </p:nvGrpSpPr>
        <p:grpSpPr>
          <a:xfrm rot="0">
            <a:off x="2084652" y="657440"/>
            <a:ext cx="5053494" cy="1354174"/>
            <a:chOff x="0" y="0"/>
            <a:chExt cx="1587929" cy="425514"/>
          </a:xfrm>
        </p:grpSpPr>
        <p:sp>
          <p:nvSpPr>
            <p:cNvPr id="10" name="Freeform 10"/>
            <p:cNvSpPr/>
            <p:nvPr/>
          </p:nvSpPr>
          <p:spPr>
            <a:xfrm>
              <a:off x="0" y="0"/>
              <a:ext cx="1587929" cy="425514"/>
            </a:xfrm>
            <a:custGeom>
              <a:avLst/>
              <a:gdLst/>
              <a:ahLst/>
              <a:cxnLst/>
              <a:rect l="l" t="t" r="r" b="b"/>
              <a:pathLst>
                <a:path w="1587929" h="425514">
                  <a:moveTo>
                    <a:pt x="21448" y="0"/>
                  </a:moveTo>
                  <a:lnTo>
                    <a:pt x="1566481" y="0"/>
                  </a:lnTo>
                  <a:cubicBezTo>
                    <a:pt x="1572169" y="0"/>
                    <a:pt x="1577625" y="2260"/>
                    <a:pt x="1581647" y="6282"/>
                  </a:cubicBezTo>
                  <a:cubicBezTo>
                    <a:pt x="1585669" y="10304"/>
                    <a:pt x="1587929" y="15760"/>
                    <a:pt x="1587929" y="21448"/>
                  </a:cubicBezTo>
                  <a:lnTo>
                    <a:pt x="1587929" y="404066"/>
                  </a:lnTo>
                  <a:cubicBezTo>
                    <a:pt x="1587929" y="415912"/>
                    <a:pt x="1578327" y="425514"/>
                    <a:pt x="1566481" y="425514"/>
                  </a:cubicBezTo>
                  <a:lnTo>
                    <a:pt x="21448" y="425514"/>
                  </a:lnTo>
                  <a:cubicBezTo>
                    <a:pt x="15760" y="425514"/>
                    <a:pt x="10304" y="423254"/>
                    <a:pt x="6282" y="419232"/>
                  </a:cubicBezTo>
                  <a:cubicBezTo>
                    <a:pt x="2260" y="415210"/>
                    <a:pt x="0" y="409755"/>
                    <a:pt x="0" y="404066"/>
                  </a:cubicBezTo>
                  <a:lnTo>
                    <a:pt x="0" y="21448"/>
                  </a:lnTo>
                  <a:cubicBezTo>
                    <a:pt x="0" y="15760"/>
                    <a:pt x="2260" y="10304"/>
                    <a:pt x="6282" y="6282"/>
                  </a:cubicBezTo>
                  <a:cubicBezTo>
                    <a:pt x="10304" y="2260"/>
                    <a:pt x="15760" y="0"/>
                    <a:pt x="21448" y="0"/>
                  </a:cubicBezTo>
                  <a:close/>
                </a:path>
              </a:pathLst>
            </a:custGeom>
            <a:solidFill>
              <a:srgbClr val="000000">
                <a:alpha val="0"/>
              </a:srgbClr>
            </a:solidFill>
            <a:ln w="142875" cap="sq">
              <a:solidFill>
                <a:srgbClr val="195759"/>
              </a:solidFill>
              <a:prstDash val="solid"/>
              <a:miter/>
            </a:ln>
          </p:spPr>
        </p:sp>
        <p:sp>
          <p:nvSpPr>
            <p:cNvPr id="11" name="TextBox 11"/>
            <p:cNvSpPr txBox="1"/>
            <p:nvPr/>
          </p:nvSpPr>
          <p:spPr>
            <a:xfrm>
              <a:off x="0" y="-85725"/>
              <a:ext cx="1587929" cy="511239"/>
            </a:xfrm>
            <a:prstGeom prst="rect">
              <a:avLst/>
            </a:prstGeom>
          </p:spPr>
          <p:txBody>
            <a:bodyPr lIns="50800" tIns="50800" rIns="50800" bIns="50800" rtlCol="0" anchor="ctr"/>
            <a:lstStyle/>
            <a:p>
              <a:pPr algn="ctr">
                <a:lnSpc>
                  <a:spcPts val="6580"/>
                </a:lnSpc>
              </a:pPr>
              <a:r>
                <a:rPr lang="en-US" sz="4700">
                  <a:solidFill>
                    <a:srgbClr val="01003B"/>
                  </a:solidFill>
                  <a:latin typeface="Finger Paint" panose="020B0506040000020004"/>
                </a:rPr>
                <a:t>ABSTRACT</a:t>
              </a:r>
              <a:endParaRPr lang="en-US" sz="4700">
                <a:solidFill>
                  <a:srgbClr val="01003B"/>
                </a:solidFill>
                <a:latin typeface="Finger Paint" panose="020B0506040000020004"/>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l="-2334" t="-4668" r="-2334"/>
            </a:stretch>
          </a:blipFill>
          <a:ln w="38100" cap="sq">
            <a:solidFill>
              <a:srgbClr val="000000"/>
            </a:solidFill>
            <a:prstDash val="solid"/>
            <a:miter/>
          </a:ln>
        </p:spPr>
      </p:sp>
      <p:sp>
        <p:nvSpPr>
          <p:cNvPr id="3" name="TextBox 3"/>
          <p:cNvSpPr txBox="1"/>
          <p:nvPr/>
        </p:nvSpPr>
        <p:spPr>
          <a:xfrm>
            <a:off x="594530" y="-76200"/>
            <a:ext cx="5662752" cy="647341"/>
          </a:xfrm>
          <a:prstGeom prst="rect">
            <a:avLst/>
          </a:prstGeom>
        </p:spPr>
        <p:txBody>
          <a:bodyPr lIns="0" tIns="0" rIns="0" bIns="0" rtlCol="0" anchor="t">
            <a:spAutoFit/>
          </a:bodyPr>
          <a:lstStyle/>
          <a:p>
            <a:pPr algn="l">
              <a:lnSpc>
                <a:spcPts val="5270"/>
              </a:lnSpc>
              <a:spcBef>
                <a:spcPct val="0"/>
              </a:spcBef>
            </a:pPr>
            <a:r>
              <a:rPr lang="en-US" sz="3765">
                <a:solidFill>
                  <a:srgbClr val="000000"/>
                </a:solidFill>
                <a:latin typeface="Fira Sans Medium" panose="020B0603050000020004"/>
              </a:rPr>
              <a:t>ENTITY RELATION DIGRAM</a:t>
            </a:r>
            <a:endParaRPr lang="en-US" sz="3765">
              <a:solidFill>
                <a:srgbClr val="000000"/>
              </a:solidFill>
              <a:latin typeface="Fira Sans Medium" panose="020B060305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0542559" y="-4150923"/>
            <a:ext cx="9822161" cy="6226137"/>
            <a:chOff x="0" y="0"/>
            <a:chExt cx="8474859" cy="5372100"/>
          </a:xfrm>
        </p:grpSpPr>
        <p:sp>
          <p:nvSpPr>
            <p:cNvPr id="3" name="Freeform 3"/>
            <p:cNvSpPr/>
            <p:nvPr/>
          </p:nvSpPr>
          <p:spPr>
            <a:xfrm>
              <a:off x="0" y="0"/>
              <a:ext cx="8474859" cy="5372100"/>
            </a:xfrm>
            <a:custGeom>
              <a:avLst/>
              <a:gdLst/>
              <a:ahLst/>
              <a:cxnLst/>
              <a:rect l="l" t="t" r="r" b="b"/>
              <a:pathLst>
                <a:path w="8474859" h="5372100">
                  <a:moveTo>
                    <a:pt x="6924189" y="0"/>
                  </a:moveTo>
                  <a:lnTo>
                    <a:pt x="1550670" y="0"/>
                  </a:lnTo>
                  <a:lnTo>
                    <a:pt x="0" y="2686050"/>
                  </a:lnTo>
                  <a:lnTo>
                    <a:pt x="1550670" y="5372100"/>
                  </a:lnTo>
                  <a:lnTo>
                    <a:pt x="6924189" y="5372100"/>
                  </a:lnTo>
                  <a:lnTo>
                    <a:pt x="8474859" y="2686050"/>
                  </a:lnTo>
                  <a:lnTo>
                    <a:pt x="6924189" y="0"/>
                  </a:lnTo>
                  <a:close/>
                </a:path>
              </a:pathLst>
            </a:custGeom>
            <a:solidFill>
              <a:srgbClr val="004651"/>
            </a:solidFill>
          </p:spPr>
        </p:sp>
      </p:grpSp>
      <p:grpSp>
        <p:nvGrpSpPr>
          <p:cNvPr id="4" name="Group 4"/>
          <p:cNvGrpSpPr/>
          <p:nvPr/>
        </p:nvGrpSpPr>
        <p:grpSpPr>
          <a:xfrm rot="0">
            <a:off x="9959443" y="-865713"/>
            <a:ext cx="2695438" cy="2334501"/>
            <a:chOff x="0" y="0"/>
            <a:chExt cx="6202680" cy="5372100"/>
          </a:xfrm>
        </p:grpSpPr>
        <p:sp>
          <p:nvSpPr>
            <p:cNvPr id="5" name="Freeform 5"/>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00A181"/>
            </a:solidFill>
          </p:spPr>
        </p:sp>
      </p:grpSp>
      <p:sp>
        <p:nvSpPr>
          <p:cNvPr id="6" name="Freeform 6"/>
          <p:cNvSpPr/>
          <p:nvPr/>
        </p:nvSpPr>
        <p:spPr>
          <a:xfrm>
            <a:off x="229514" y="3657554"/>
            <a:ext cx="18058486" cy="2283794"/>
          </a:xfrm>
          <a:custGeom>
            <a:avLst/>
            <a:gdLst/>
            <a:ahLst/>
            <a:cxnLst/>
            <a:rect l="l" t="t" r="r" b="b"/>
            <a:pathLst>
              <a:path w="18058486" h="2283794">
                <a:moveTo>
                  <a:pt x="0" y="0"/>
                </a:moveTo>
                <a:lnTo>
                  <a:pt x="18058486" y="0"/>
                </a:lnTo>
                <a:lnTo>
                  <a:pt x="18058486" y="2283794"/>
                </a:lnTo>
                <a:lnTo>
                  <a:pt x="0" y="2283794"/>
                </a:lnTo>
                <a:lnTo>
                  <a:pt x="0" y="0"/>
                </a:lnTo>
                <a:close/>
              </a:path>
            </a:pathLst>
          </a:custGeom>
          <a:blipFill>
            <a:blip r:embed="rId1"/>
            <a:stretch>
              <a:fillRect l="-293" t="-487" b="-502"/>
            </a:stretch>
          </a:blipFill>
        </p:spPr>
      </p:sp>
      <p:sp>
        <p:nvSpPr>
          <p:cNvPr id="7" name="TextBox 7"/>
          <p:cNvSpPr txBox="1"/>
          <p:nvPr/>
        </p:nvSpPr>
        <p:spPr>
          <a:xfrm>
            <a:off x="512245" y="455315"/>
            <a:ext cx="9447198" cy="981075"/>
          </a:xfrm>
          <a:prstGeom prst="rect">
            <a:avLst/>
          </a:prstGeom>
        </p:spPr>
        <p:txBody>
          <a:bodyPr lIns="0" tIns="0" rIns="0" bIns="0" rtlCol="0" anchor="t">
            <a:spAutoFit/>
          </a:bodyPr>
          <a:lstStyle/>
          <a:p>
            <a:pPr algn="ctr">
              <a:lnSpc>
                <a:spcPts val="7800"/>
              </a:lnSpc>
              <a:spcBef>
                <a:spcPct val="0"/>
              </a:spcBef>
            </a:pPr>
            <a:r>
              <a:rPr lang="en-US" sz="6000" spc="-60">
                <a:solidFill>
                  <a:srgbClr val="000000"/>
                </a:solidFill>
                <a:latin typeface="Fira Sans Medium" panose="020B0603050000020004"/>
              </a:rPr>
              <a:t>UN NORMALIZATION FORM</a:t>
            </a:r>
            <a:endParaRPr lang="en-US" sz="6000" spc="-60">
              <a:solidFill>
                <a:srgbClr val="000000"/>
              </a:solidFill>
              <a:latin typeface="Fira Sans Medium" panose="020B06030500000200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0">
            <a:off x="17024621" y="-2606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sp>
      </p:grpSp>
      <p:grpSp>
        <p:nvGrpSpPr>
          <p:cNvPr id="4" name="Group 4"/>
          <p:cNvGrpSpPr/>
          <p:nvPr/>
        </p:nvGrpSpPr>
        <p:grpSpPr>
          <a:xfrm rot="0">
            <a:off x="15273524" y="-1144919"/>
            <a:ext cx="2481390" cy="2289838"/>
            <a:chOff x="0" y="0"/>
            <a:chExt cx="3619627" cy="3340210"/>
          </a:xfrm>
        </p:grpSpPr>
        <p:sp>
          <p:nvSpPr>
            <p:cNvPr id="5" name="Freeform 5"/>
            <p:cNvSpPr/>
            <p:nvPr/>
          </p:nvSpPr>
          <p:spPr>
            <a:xfrm>
              <a:off x="0" y="0"/>
              <a:ext cx="3619627" cy="3340210"/>
            </a:xfrm>
            <a:custGeom>
              <a:avLst/>
              <a:gdLst/>
              <a:ahLst/>
              <a:cxnLst/>
              <a:rect l="l" t="t" r="r" b="b"/>
              <a:pathLst>
                <a:path w="3619627" h="3340210">
                  <a:moveTo>
                    <a:pt x="3619627" y="1670105"/>
                  </a:moveTo>
                  <a:lnTo>
                    <a:pt x="2714752" y="3340210"/>
                  </a:lnTo>
                  <a:lnTo>
                    <a:pt x="904875" y="3340210"/>
                  </a:lnTo>
                  <a:lnTo>
                    <a:pt x="0" y="1670105"/>
                  </a:lnTo>
                  <a:lnTo>
                    <a:pt x="904875" y="0"/>
                  </a:lnTo>
                  <a:lnTo>
                    <a:pt x="2714625" y="0"/>
                  </a:lnTo>
                  <a:lnTo>
                    <a:pt x="3619627" y="1670105"/>
                  </a:lnTo>
                  <a:close/>
                </a:path>
              </a:pathLst>
            </a:custGeom>
            <a:solidFill>
              <a:srgbClr val="A4E473"/>
            </a:solidFill>
          </p:spPr>
        </p:sp>
      </p:grpSp>
      <p:sp>
        <p:nvSpPr>
          <p:cNvPr id="6" name="Freeform 6"/>
          <p:cNvSpPr/>
          <p:nvPr/>
        </p:nvSpPr>
        <p:spPr>
          <a:xfrm>
            <a:off x="1361800" y="2318085"/>
            <a:ext cx="13911724" cy="7697123"/>
          </a:xfrm>
          <a:custGeom>
            <a:avLst/>
            <a:gdLst/>
            <a:ahLst/>
            <a:cxnLst/>
            <a:rect l="l" t="t" r="r" b="b"/>
            <a:pathLst>
              <a:path w="13911724" h="7697123">
                <a:moveTo>
                  <a:pt x="0" y="0"/>
                </a:moveTo>
                <a:lnTo>
                  <a:pt x="13911724" y="0"/>
                </a:lnTo>
                <a:lnTo>
                  <a:pt x="13911724" y="7697123"/>
                </a:lnTo>
                <a:lnTo>
                  <a:pt x="0" y="7697123"/>
                </a:lnTo>
                <a:lnTo>
                  <a:pt x="0" y="0"/>
                </a:lnTo>
                <a:close/>
              </a:path>
            </a:pathLst>
          </a:custGeom>
          <a:blipFill>
            <a:blip r:embed="rId1"/>
            <a:stretch>
              <a:fillRect l="-22" t="-8168" r="-245"/>
            </a:stretch>
          </a:blipFill>
        </p:spPr>
      </p:sp>
      <p:sp>
        <p:nvSpPr>
          <p:cNvPr id="7" name="TextBox 7"/>
          <p:cNvSpPr txBox="1"/>
          <p:nvPr/>
        </p:nvSpPr>
        <p:spPr>
          <a:xfrm>
            <a:off x="0" y="561975"/>
            <a:ext cx="4508288" cy="1838325"/>
          </a:xfrm>
          <a:prstGeom prst="rect">
            <a:avLst/>
          </a:prstGeom>
        </p:spPr>
        <p:txBody>
          <a:bodyPr lIns="0" tIns="0" rIns="0" bIns="0" rtlCol="0" anchor="t">
            <a:spAutoFit/>
          </a:bodyPr>
          <a:lstStyle/>
          <a:p>
            <a:pPr algn="ctr">
              <a:lnSpc>
                <a:spcPts val="7200"/>
              </a:lnSpc>
              <a:spcBef>
                <a:spcPct val="0"/>
              </a:spcBef>
            </a:pPr>
            <a:r>
              <a:rPr lang="en-US" sz="6000" spc="-60">
                <a:solidFill>
                  <a:srgbClr val="000000"/>
                </a:solidFill>
                <a:latin typeface="Fira Sans Medium" panose="020B0603050000020004"/>
              </a:rPr>
              <a:t> 1ST NORMAL FORM</a:t>
            </a:r>
            <a:endParaRPr lang="en-US" sz="6000" spc="-60">
              <a:solidFill>
                <a:srgbClr val="000000"/>
              </a:solidFill>
              <a:latin typeface="Fira Sans Medium" panose="020B06030500000200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0">
            <a:off x="17024621" y="-2606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sp>
      </p:grpSp>
      <p:grpSp>
        <p:nvGrpSpPr>
          <p:cNvPr id="4" name="Group 4"/>
          <p:cNvGrpSpPr/>
          <p:nvPr/>
        </p:nvGrpSpPr>
        <p:grpSpPr>
          <a:xfrm rot="0">
            <a:off x="15273524" y="-1144919"/>
            <a:ext cx="2481390" cy="2289838"/>
            <a:chOff x="0" y="0"/>
            <a:chExt cx="3619627" cy="3340210"/>
          </a:xfrm>
        </p:grpSpPr>
        <p:sp>
          <p:nvSpPr>
            <p:cNvPr id="5" name="Freeform 5"/>
            <p:cNvSpPr/>
            <p:nvPr/>
          </p:nvSpPr>
          <p:spPr>
            <a:xfrm>
              <a:off x="0" y="0"/>
              <a:ext cx="3619627" cy="3340210"/>
            </a:xfrm>
            <a:custGeom>
              <a:avLst/>
              <a:gdLst/>
              <a:ahLst/>
              <a:cxnLst/>
              <a:rect l="l" t="t" r="r" b="b"/>
              <a:pathLst>
                <a:path w="3619627" h="3340210">
                  <a:moveTo>
                    <a:pt x="3619627" y="1670105"/>
                  </a:moveTo>
                  <a:lnTo>
                    <a:pt x="2714752" y="3340210"/>
                  </a:lnTo>
                  <a:lnTo>
                    <a:pt x="904875" y="3340210"/>
                  </a:lnTo>
                  <a:lnTo>
                    <a:pt x="0" y="1670105"/>
                  </a:lnTo>
                  <a:lnTo>
                    <a:pt x="904875" y="0"/>
                  </a:lnTo>
                  <a:lnTo>
                    <a:pt x="2714625" y="0"/>
                  </a:lnTo>
                  <a:lnTo>
                    <a:pt x="3619627" y="1670105"/>
                  </a:lnTo>
                  <a:close/>
                </a:path>
              </a:pathLst>
            </a:custGeom>
            <a:solidFill>
              <a:srgbClr val="A4E473"/>
            </a:solidFill>
          </p:spPr>
        </p:sp>
      </p:grpSp>
      <p:sp>
        <p:nvSpPr>
          <p:cNvPr id="6" name="TextBox 6"/>
          <p:cNvSpPr txBox="1"/>
          <p:nvPr/>
        </p:nvSpPr>
        <p:spPr>
          <a:xfrm>
            <a:off x="3203125" y="220994"/>
            <a:ext cx="9144000" cy="923925"/>
          </a:xfrm>
          <a:prstGeom prst="rect">
            <a:avLst/>
          </a:prstGeom>
        </p:spPr>
        <p:txBody>
          <a:bodyPr lIns="0" tIns="0" rIns="0" bIns="0" rtlCol="0" anchor="t">
            <a:spAutoFit/>
          </a:bodyPr>
          <a:lstStyle/>
          <a:p>
            <a:pPr algn="ctr">
              <a:lnSpc>
                <a:spcPts val="7200"/>
              </a:lnSpc>
              <a:spcBef>
                <a:spcPct val="0"/>
              </a:spcBef>
            </a:pPr>
            <a:r>
              <a:rPr lang="en-US" sz="6000" spc="-60">
                <a:solidFill>
                  <a:srgbClr val="000000"/>
                </a:solidFill>
                <a:latin typeface="Fira Sans Medium" panose="020B0603050000020004"/>
              </a:rPr>
              <a:t>2ND NORMAL FORM</a:t>
            </a:r>
            <a:endParaRPr lang="en-US" sz="6000" spc="-60">
              <a:solidFill>
                <a:srgbClr val="000000"/>
              </a:solidFill>
              <a:latin typeface="Fira Sans Medium" panose="020B0603050000020004"/>
            </a:endParaRPr>
          </a:p>
        </p:txBody>
      </p:sp>
      <p:sp>
        <p:nvSpPr>
          <p:cNvPr id="7" name="TextBox 7"/>
          <p:cNvSpPr txBox="1"/>
          <p:nvPr/>
        </p:nvSpPr>
        <p:spPr>
          <a:xfrm>
            <a:off x="283967" y="1878229"/>
            <a:ext cx="17720066" cy="4974801"/>
          </a:xfrm>
          <a:prstGeom prst="rect">
            <a:avLst/>
          </a:prstGeom>
        </p:spPr>
        <p:txBody>
          <a:bodyPr lIns="0" tIns="0" rIns="0" bIns="0" rtlCol="0" anchor="t">
            <a:spAutoFit/>
          </a:bodyPr>
          <a:lstStyle/>
          <a:p>
            <a:pPr algn="l">
              <a:lnSpc>
                <a:spcPts val="4480"/>
              </a:lnSpc>
            </a:pPr>
            <a:r>
              <a:rPr lang="en-US" sz="3730" spc="-37">
                <a:solidFill>
                  <a:srgbClr val="000000"/>
                </a:solidFill>
                <a:latin typeface="Fira Sans Bold" panose="020B0803050000020004"/>
              </a:rPr>
              <a:t>Actions Taken:</a:t>
            </a:r>
            <a:endParaRPr lang="en-US" sz="3730" spc="-37">
              <a:solidFill>
                <a:srgbClr val="000000"/>
              </a:solidFill>
              <a:latin typeface="Fira Sans Bold" panose="020B0803050000020004"/>
            </a:endParaRPr>
          </a:p>
          <a:p>
            <a:pPr algn="l">
              <a:lnSpc>
                <a:spcPts val="4480"/>
              </a:lnSpc>
            </a:pPr>
            <a:r>
              <a:rPr lang="en-US" sz="3730" spc="-37">
                <a:solidFill>
                  <a:srgbClr val="000000"/>
                </a:solidFill>
                <a:latin typeface="Fira Sans Bold" panose="020B0803050000020004"/>
              </a:rPr>
              <a:t>Identify Primary Keys: Ensure each table has a clear primary key.</a:t>
            </a:r>
            <a:endParaRPr lang="en-US" sz="3730" spc="-37">
              <a:solidFill>
                <a:srgbClr val="000000"/>
              </a:solidFill>
              <a:latin typeface="Fira Sans Bold" panose="020B0803050000020004"/>
            </a:endParaRPr>
          </a:p>
          <a:p>
            <a:pPr algn="l">
              <a:lnSpc>
                <a:spcPts val="4480"/>
              </a:lnSpc>
            </a:pPr>
            <a:r>
              <a:rPr lang="en-US" sz="3730" spc="-37">
                <a:solidFill>
                  <a:srgbClr val="000000"/>
                </a:solidFill>
                <a:latin typeface="Fira Sans Bold" panose="020B0803050000020004"/>
              </a:rPr>
              <a:t>Remove Partial Dependencies: Ensure all non-key attributes are </a:t>
            </a:r>
            <a:endParaRPr lang="en-US" sz="3730" spc="-37">
              <a:solidFill>
                <a:srgbClr val="000000"/>
              </a:solidFill>
              <a:latin typeface="Fira Sans Bold" panose="020B0803050000020004"/>
            </a:endParaRPr>
          </a:p>
          <a:p>
            <a:pPr algn="l">
              <a:lnSpc>
                <a:spcPts val="4480"/>
              </a:lnSpc>
            </a:pPr>
            <a:r>
              <a:rPr lang="en-US" sz="3730" spc="-37">
                <a:solidFill>
                  <a:srgbClr val="000000"/>
                </a:solidFill>
                <a:latin typeface="Fira Sans Bold" panose="020B0803050000020004"/>
              </a:rPr>
              <a:t>fully dependent on the primary key.</a:t>
            </a:r>
            <a:endParaRPr lang="en-US" sz="3730" spc="-37">
              <a:solidFill>
                <a:srgbClr val="000000"/>
              </a:solidFill>
              <a:latin typeface="Fira Sans Bold" panose="020B0803050000020004"/>
            </a:endParaRPr>
          </a:p>
          <a:p>
            <a:pPr algn="l">
              <a:lnSpc>
                <a:spcPts val="4480"/>
              </a:lnSpc>
            </a:pPr>
          </a:p>
          <a:p>
            <a:pPr algn="l">
              <a:lnSpc>
                <a:spcPts val="4480"/>
              </a:lnSpc>
            </a:pPr>
            <a:r>
              <a:rPr lang="en-US" sz="3730" spc="-37">
                <a:solidFill>
                  <a:srgbClr val="000000"/>
                </a:solidFill>
                <a:latin typeface="Fira Sans Bold" panose="020B0803050000020004"/>
              </a:rPr>
              <a:t>2NF Review: In the given tables, no new tables are needed since all non-key attributes are already fully dependent on their respective primary keys.</a:t>
            </a:r>
            <a:endParaRPr lang="en-US" sz="3730" spc="-37">
              <a:solidFill>
                <a:srgbClr val="000000"/>
              </a:solidFill>
              <a:latin typeface="Fira Sans Bold" panose="020B0803050000020004"/>
            </a:endParaRPr>
          </a:p>
          <a:p>
            <a:pPr algn="ctr">
              <a:lnSpc>
                <a:spcPts val="4480"/>
              </a:lnSpc>
            </a:pPr>
          </a:p>
          <a:p>
            <a:pPr algn="ctr">
              <a:lnSpc>
                <a:spcPts val="3325"/>
              </a:lnSpc>
              <a:spcBef>
                <a:spcPct val="0"/>
              </a:spcBef>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966641" y="896535"/>
            <a:ext cx="9707828" cy="9079463"/>
          </a:xfrm>
          <a:custGeom>
            <a:avLst/>
            <a:gdLst/>
            <a:ahLst/>
            <a:cxnLst/>
            <a:rect l="l" t="t" r="r" b="b"/>
            <a:pathLst>
              <a:path w="9707828" h="9079463">
                <a:moveTo>
                  <a:pt x="0" y="0"/>
                </a:moveTo>
                <a:lnTo>
                  <a:pt x="9707828" y="0"/>
                </a:lnTo>
                <a:lnTo>
                  <a:pt x="9707828" y="9079463"/>
                </a:lnTo>
                <a:lnTo>
                  <a:pt x="0" y="9079463"/>
                </a:lnTo>
                <a:lnTo>
                  <a:pt x="0" y="0"/>
                </a:lnTo>
                <a:close/>
              </a:path>
            </a:pathLst>
          </a:custGeom>
          <a:blipFill>
            <a:blip r:embed="rId1"/>
            <a:stretch>
              <a:fillRect l="-33" t="-6815" r="-33"/>
            </a:stretch>
          </a:blipFill>
        </p:spPr>
      </p:sp>
      <p:sp>
        <p:nvSpPr>
          <p:cNvPr id="3" name="TextBox 3"/>
          <p:cNvSpPr txBox="1"/>
          <p:nvPr/>
        </p:nvSpPr>
        <p:spPr>
          <a:xfrm>
            <a:off x="4881536" y="104775"/>
            <a:ext cx="7103173" cy="923925"/>
          </a:xfrm>
          <a:prstGeom prst="rect">
            <a:avLst/>
          </a:prstGeom>
        </p:spPr>
        <p:txBody>
          <a:bodyPr lIns="0" tIns="0" rIns="0" bIns="0" rtlCol="0" anchor="t">
            <a:spAutoFit/>
          </a:bodyPr>
          <a:lstStyle/>
          <a:p>
            <a:pPr algn="r">
              <a:lnSpc>
                <a:spcPts val="7200"/>
              </a:lnSpc>
              <a:spcBef>
                <a:spcPct val="0"/>
              </a:spcBef>
            </a:pPr>
            <a:r>
              <a:rPr lang="en-US" sz="6000" spc="-60">
                <a:solidFill>
                  <a:srgbClr val="000000"/>
                </a:solidFill>
                <a:latin typeface="Fira Sans Medium" panose="020B0603050000020004"/>
              </a:rPr>
              <a:t>3RD NORMAL FORM</a:t>
            </a:r>
            <a:endParaRPr lang="en-US" sz="6000" spc="-60">
              <a:solidFill>
                <a:srgbClr val="000000"/>
              </a:solidFill>
              <a:latin typeface="Fira Sans Medium" panose="020B06030500000200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grpSp>
        <p:nvGrpSpPr>
          <p:cNvPr id="2" name="Group 2"/>
          <p:cNvGrpSpPr/>
          <p:nvPr/>
        </p:nvGrpSpPr>
        <p:grpSpPr>
          <a:xfrm rot="0">
            <a:off x="-2527743" y="-89986"/>
            <a:ext cx="10138115" cy="8779655"/>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id="4" name="Group 4"/>
          <p:cNvGrpSpPr/>
          <p:nvPr/>
        </p:nvGrpSpPr>
        <p:grpSpPr>
          <a:xfrm rot="0">
            <a:off x="2505679" y="5832746"/>
            <a:ext cx="5966980" cy="5167433"/>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sp>
      </p:grpSp>
      <p:sp>
        <p:nvSpPr>
          <p:cNvPr id="6" name="TextBox 6"/>
          <p:cNvSpPr txBox="1"/>
          <p:nvPr/>
        </p:nvSpPr>
        <p:spPr>
          <a:xfrm>
            <a:off x="8215640" y="346532"/>
            <a:ext cx="7374522" cy="923925"/>
          </a:xfrm>
          <a:prstGeom prst="rect">
            <a:avLst/>
          </a:prstGeom>
        </p:spPr>
        <p:txBody>
          <a:bodyPr lIns="0" tIns="0" rIns="0" bIns="0" rtlCol="0" anchor="t">
            <a:spAutoFit/>
          </a:bodyPr>
          <a:lstStyle/>
          <a:p>
            <a:pPr marL="0" lvl="0" indent="0" algn="ctr">
              <a:lnSpc>
                <a:spcPts val="7200"/>
              </a:lnSpc>
              <a:spcBef>
                <a:spcPct val="0"/>
              </a:spcBef>
            </a:pPr>
            <a:r>
              <a:rPr lang="en-US" sz="6000" spc="-60">
                <a:solidFill>
                  <a:srgbClr val="F4F4F4"/>
                </a:solidFill>
                <a:latin typeface="Fira Sans Medium" panose="020B0603050000020004"/>
              </a:rPr>
              <a:t>DDL OPERATIONS </a:t>
            </a:r>
            <a:endParaRPr lang="en-US" sz="6000" spc="-60">
              <a:solidFill>
                <a:srgbClr val="F4F4F4"/>
              </a:solidFill>
              <a:latin typeface="Fira Sans Medium" panose="020B0603050000020004"/>
            </a:endParaRPr>
          </a:p>
        </p:txBody>
      </p:sp>
      <p:sp>
        <p:nvSpPr>
          <p:cNvPr id="7" name="TextBox 7"/>
          <p:cNvSpPr txBox="1"/>
          <p:nvPr/>
        </p:nvSpPr>
        <p:spPr>
          <a:xfrm>
            <a:off x="8215640" y="2109142"/>
            <a:ext cx="8845774" cy="8591550"/>
          </a:xfrm>
          <a:prstGeom prst="rect">
            <a:avLst/>
          </a:prstGeom>
        </p:spPr>
        <p:txBody>
          <a:bodyPr lIns="0" tIns="0" rIns="0" bIns="0" rtlCol="0" anchor="t">
            <a:spAutoFit/>
          </a:bodyPr>
          <a:lstStyle/>
          <a:p>
            <a:pPr algn="l">
              <a:lnSpc>
                <a:spcPts val="4755"/>
              </a:lnSpc>
            </a:pPr>
            <a:r>
              <a:rPr lang="en-US" sz="3965" spc="-39">
                <a:solidFill>
                  <a:srgbClr val="F4F4F4"/>
                </a:solidFill>
                <a:latin typeface="Fira Sans Medium" panose="020B0603050000020004"/>
              </a:rPr>
              <a:t>Data Definition Language (DDL) operations were performed to create, alter, and manage the database schema. Examples include creating tables, adding constraints, modifying columns, and managing indexes. The DDL queries ensure the structural foundation required for robust data management.</a:t>
            </a:r>
            <a:endParaRPr lang="en-US" sz="3965" spc="-39">
              <a:solidFill>
                <a:srgbClr val="F4F4F4"/>
              </a:solidFill>
              <a:latin typeface="Fira Sans Medium" panose="020B0603050000020004"/>
            </a:endParaRPr>
          </a:p>
          <a:p>
            <a:pPr algn="l">
              <a:lnSpc>
                <a:spcPts val="3315"/>
              </a:lnSpc>
            </a:pPr>
          </a:p>
          <a:p>
            <a:pPr algn="l">
              <a:lnSpc>
                <a:spcPts val="5355"/>
              </a:lnSpc>
            </a:pPr>
          </a:p>
          <a:p>
            <a:pPr algn="l">
              <a:lnSpc>
                <a:spcPts val="2355"/>
              </a:lnSpc>
            </a:pPr>
          </a:p>
          <a:p>
            <a:pPr algn="l">
              <a:lnSpc>
                <a:spcPts val="5355"/>
              </a:lnSpc>
            </a:pPr>
          </a:p>
          <a:p>
            <a:pPr algn="l">
              <a:lnSpc>
                <a:spcPts val="5355"/>
              </a:lnSpc>
            </a:pPr>
          </a:p>
          <a:p>
            <a:pPr marL="0" lvl="0" indent="0" algn="l">
              <a:lnSpc>
                <a:spcPts val="3555"/>
              </a:lnSpc>
              <a:spcBef>
                <a:spcPct val="0"/>
              </a:spcBef>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1258101" y="5545135"/>
            <a:ext cx="15385212" cy="4141919"/>
          </a:xfrm>
          <a:custGeom>
            <a:avLst/>
            <a:gdLst/>
            <a:ahLst/>
            <a:cxnLst/>
            <a:rect l="l" t="t" r="r" b="b"/>
            <a:pathLst>
              <a:path w="15385212" h="4141919">
                <a:moveTo>
                  <a:pt x="0" y="0"/>
                </a:moveTo>
                <a:lnTo>
                  <a:pt x="15385212" y="0"/>
                </a:lnTo>
                <a:lnTo>
                  <a:pt x="15385212" y="4141919"/>
                </a:lnTo>
                <a:lnTo>
                  <a:pt x="0" y="4141919"/>
                </a:lnTo>
                <a:lnTo>
                  <a:pt x="0" y="0"/>
                </a:lnTo>
                <a:close/>
              </a:path>
            </a:pathLst>
          </a:custGeom>
          <a:blipFill>
            <a:blip r:embed="rId1"/>
            <a:stretch>
              <a:fillRect l="-396" r="-396"/>
            </a:stretch>
          </a:blipFill>
        </p:spPr>
      </p:sp>
      <p:sp>
        <p:nvSpPr>
          <p:cNvPr id="3" name="TextBox 3"/>
          <p:cNvSpPr txBox="1"/>
          <p:nvPr/>
        </p:nvSpPr>
        <p:spPr>
          <a:xfrm>
            <a:off x="405034" y="298543"/>
            <a:ext cx="10194727" cy="5972175"/>
          </a:xfrm>
          <a:prstGeom prst="rect">
            <a:avLst/>
          </a:prstGeom>
        </p:spPr>
        <p:txBody>
          <a:bodyPr lIns="0" tIns="0" rIns="0" bIns="0" rtlCol="0" anchor="t">
            <a:spAutoFit/>
          </a:bodyPr>
          <a:lstStyle/>
          <a:p>
            <a:pPr algn="l">
              <a:lnSpc>
                <a:spcPts val="4275"/>
              </a:lnSpc>
            </a:pPr>
            <a:r>
              <a:rPr lang="en-US" sz="3565" spc="-35">
                <a:solidFill>
                  <a:srgbClr val="F4F4F4"/>
                </a:solidFill>
                <a:latin typeface="Fira Sans Medium" panose="020B0603050000020004"/>
              </a:rPr>
              <a:t>CREATE TABLE Customer (</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    Customer_id VARCHAR(6) PRIMARY KEY,</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    c_pass VARCHAR(10) NOT NULL,</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    Name VARCHAR(20) NOT NULL,</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    Address VARCHAR(20) NOT NULL,</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    Pincode CHAR(6) NOT NULL,</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    Phone_number_s CHAR(10) NOT NULL,</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    Cart_id VARCHAR(7) NOT NULL,</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    FOREIGN KEY (Cart_id) REFERENCES Cart(Cart_id)</a:t>
            </a:r>
            <a:endParaRPr lang="en-US" sz="3565" spc="-35">
              <a:solidFill>
                <a:srgbClr val="F4F4F4"/>
              </a:solidFill>
              <a:latin typeface="Fira Sans Medium" panose="020B0603050000020004"/>
            </a:endParaRPr>
          </a:p>
          <a:p>
            <a:pPr algn="l">
              <a:lnSpc>
                <a:spcPts val="4275"/>
              </a:lnSpc>
            </a:pPr>
            <a:r>
              <a:rPr lang="en-US" sz="3565" spc="-35">
                <a:solidFill>
                  <a:srgbClr val="F4F4F4"/>
                </a:solidFill>
                <a:latin typeface="Fira Sans Medium" panose="020B0603050000020004"/>
              </a:rPr>
              <a:t>);</a:t>
            </a:r>
            <a:endParaRPr lang="en-US" sz="3565" spc="-35">
              <a:solidFill>
                <a:srgbClr val="F4F4F4"/>
              </a:solidFill>
              <a:latin typeface="Fira Sans Medium" panose="020B0603050000020004"/>
            </a:endParaRPr>
          </a:p>
          <a:p>
            <a:pPr marL="0" lvl="0" indent="0" algn="l">
              <a:lnSpc>
                <a:spcPts val="4275"/>
              </a:lnSpc>
              <a:spcBef>
                <a:spcPct val="0"/>
              </a:spcBef>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501003" y="5676900"/>
            <a:ext cx="16352866" cy="2683291"/>
          </a:xfrm>
          <a:custGeom>
            <a:avLst/>
            <a:gdLst/>
            <a:ahLst/>
            <a:cxnLst/>
            <a:rect l="l" t="t" r="r" b="b"/>
            <a:pathLst>
              <a:path w="16352866" h="2683291">
                <a:moveTo>
                  <a:pt x="0" y="0"/>
                </a:moveTo>
                <a:lnTo>
                  <a:pt x="16352866" y="0"/>
                </a:lnTo>
                <a:lnTo>
                  <a:pt x="16352866" y="2683291"/>
                </a:lnTo>
                <a:lnTo>
                  <a:pt x="0" y="2683291"/>
                </a:lnTo>
                <a:lnTo>
                  <a:pt x="0" y="0"/>
                </a:lnTo>
                <a:close/>
              </a:path>
            </a:pathLst>
          </a:custGeom>
          <a:blipFill>
            <a:blip r:embed="rId1"/>
            <a:stretch>
              <a:fillRect l="-1047" t="-5446" r="-2119" b="-9095"/>
            </a:stretch>
          </a:blipFill>
        </p:spPr>
      </p:sp>
      <p:sp>
        <p:nvSpPr>
          <p:cNvPr id="3" name="TextBox 3"/>
          <p:cNvSpPr txBox="1"/>
          <p:nvPr/>
        </p:nvSpPr>
        <p:spPr>
          <a:xfrm>
            <a:off x="722339" y="714375"/>
            <a:ext cx="11165910" cy="4962525"/>
          </a:xfrm>
          <a:prstGeom prst="rect">
            <a:avLst/>
          </a:prstGeom>
        </p:spPr>
        <p:txBody>
          <a:bodyPr lIns="0" tIns="0" rIns="0" bIns="0" rtlCol="0" anchor="t">
            <a:spAutoFit/>
          </a:bodyPr>
          <a:lstStyle/>
          <a:p>
            <a:pPr algn="l">
              <a:lnSpc>
                <a:spcPts val="4875"/>
              </a:lnSpc>
            </a:pPr>
            <a:r>
              <a:rPr lang="en-US" sz="4065" spc="-40">
                <a:solidFill>
                  <a:srgbClr val="F4F4F4"/>
                </a:solidFill>
                <a:latin typeface="Fira Sans" panose="020B0503050000020004"/>
              </a:rPr>
              <a:t>CREATE TABLE Seller (</a:t>
            </a:r>
            <a:endParaRPr lang="en-US" sz="4065" spc="-40">
              <a:solidFill>
                <a:srgbClr val="F4F4F4"/>
              </a:solidFill>
              <a:latin typeface="Fira Sans" panose="020B0503050000020004"/>
            </a:endParaRPr>
          </a:p>
          <a:p>
            <a:pPr algn="l">
              <a:lnSpc>
                <a:spcPts val="4875"/>
              </a:lnSpc>
            </a:pPr>
            <a:r>
              <a:rPr lang="en-US" sz="4065" spc="-40">
                <a:solidFill>
                  <a:srgbClr val="F4F4F4"/>
                </a:solidFill>
                <a:latin typeface="Fira Sans" panose="020B0503050000020004"/>
              </a:rPr>
              <a:t>    Seller_id VARCHAR(6) PRIMARY KEY,</a:t>
            </a:r>
            <a:endParaRPr lang="en-US" sz="4065" spc="-40">
              <a:solidFill>
                <a:srgbClr val="F4F4F4"/>
              </a:solidFill>
              <a:latin typeface="Fira Sans" panose="020B0503050000020004"/>
            </a:endParaRPr>
          </a:p>
          <a:p>
            <a:pPr algn="l">
              <a:lnSpc>
                <a:spcPts val="4875"/>
              </a:lnSpc>
            </a:pPr>
            <a:r>
              <a:rPr lang="en-US" sz="4065" spc="-40">
                <a:solidFill>
                  <a:srgbClr val="F4F4F4"/>
                </a:solidFill>
                <a:latin typeface="Fira Sans" panose="020B0503050000020004"/>
              </a:rPr>
              <a:t>    s_pass VARCHAR(10) NOT NULL,</a:t>
            </a:r>
            <a:endParaRPr lang="en-US" sz="4065" spc="-40">
              <a:solidFill>
                <a:srgbClr val="F4F4F4"/>
              </a:solidFill>
              <a:latin typeface="Fira Sans" panose="020B0503050000020004"/>
            </a:endParaRPr>
          </a:p>
          <a:p>
            <a:pPr algn="l">
              <a:lnSpc>
                <a:spcPts val="4875"/>
              </a:lnSpc>
            </a:pPr>
            <a:r>
              <a:rPr lang="en-US" sz="4065" spc="-40">
                <a:solidFill>
                  <a:srgbClr val="F4F4F4"/>
                </a:solidFill>
                <a:latin typeface="Fira Sans" panose="020B0503050000020004"/>
              </a:rPr>
              <a:t>    Name VARCHAR(20) NOT NULL,</a:t>
            </a:r>
            <a:endParaRPr lang="en-US" sz="4065" spc="-40">
              <a:solidFill>
                <a:srgbClr val="F4F4F4"/>
              </a:solidFill>
              <a:latin typeface="Fira Sans" panose="020B0503050000020004"/>
            </a:endParaRPr>
          </a:p>
          <a:p>
            <a:pPr algn="l">
              <a:lnSpc>
                <a:spcPts val="4875"/>
              </a:lnSpc>
            </a:pPr>
            <a:r>
              <a:rPr lang="en-US" sz="4065" spc="-40">
                <a:solidFill>
                  <a:srgbClr val="F4F4F4"/>
                </a:solidFill>
                <a:latin typeface="Fira Sans" panose="020B0503050000020004"/>
              </a:rPr>
              <a:t>    Address VARCHAR(10) NOT NULL</a:t>
            </a:r>
            <a:endParaRPr lang="en-US" sz="4065" spc="-40">
              <a:solidFill>
                <a:srgbClr val="F4F4F4"/>
              </a:solidFill>
              <a:latin typeface="Fira Sans" panose="020B0503050000020004"/>
            </a:endParaRPr>
          </a:p>
          <a:p>
            <a:pPr algn="l">
              <a:lnSpc>
                <a:spcPts val="4875"/>
              </a:lnSpc>
            </a:pPr>
            <a:r>
              <a:rPr lang="en-US" sz="4065" spc="-40">
                <a:solidFill>
                  <a:srgbClr val="F4F4F4"/>
                </a:solidFill>
                <a:latin typeface="Fira Sans" panose="020B0503050000020004"/>
              </a:rPr>
              <a:t>);</a:t>
            </a:r>
            <a:endParaRPr lang="en-US" sz="4065" spc="-40">
              <a:solidFill>
                <a:srgbClr val="F4F4F4"/>
              </a:solidFill>
              <a:latin typeface="Fira Sans" panose="020B0503050000020004"/>
            </a:endParaRPr>
          </a:p>
          <a:p>
            <a:pPr algn="l">
              <a:lnSpc>
                <a:spcPts val="4875"/>
              </a:lnSpc>
            </a:pPr>
          </a:p>
          <a:p>
            <a:pPr marL="0" lvl="0" indent="0" algn="l">
              <a:lnSpc>
                <a:spcPts val="4875"/>
              </a:lnSpc>
              <a:spcBef>
                <a:spcPct val="0"/>
              </a:spcBef>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1028700" y="5288319"/>
            <a:ext cx="15682042" cy="3969981"/>
          </a:xfrm>
          <a:custGeom>
            <a:avLst/>
            <a:gdLst/>
            <a:ahLst/>
            <a:cxnLst/>
            <a:rect l="l" t="t" r="r" b="b"/>
            <a:pathLst>
              <a:path w="15682042" h="3969981">
                <a:moveTo>
                  <a:pt x="0" y="0"/>
                </a:moveTo>
                <a:lnTo>
                  <a:pt x="15682042" y="0"/>
                </a:lnTo>
                <a:lnTo>
                  <a:pt x="15682042" y="3969981"/>
                </a:lnTo>
                <a:lnTo>
                  <a:pt x="0" y="3969981"/>
                </a:lnTo>
                <a:lnTo>
                  <a:pt x="0" y="0"/>
                </a:lnTo>
                <a:close/>
              </a:path>
            </a:pathLst>
          </a:custGeom>
          <a:blipFill>
            <a:blip r:embed="rId1"/>
            <a:stretch>
              <a:fillRect l="-2913" t="-264" r="-4788"/>
            </a:stretch>
          </a:blipFill>
        </p:spPr>
      </p:sp>
      <p:sp>
        <p:nvSpPr>
          <p:cNvPr id="3" name="TextBox 3"/>
          <p:cNvSpPr txBox="1"/>
          <p:nvPr/>
        </p:nvSpPr>
        <p:spPr>
          <a:xfrm>
            <a:off x="392529" y="672968"/>
            <a:ext cx="11607950" cy="5995498"/>
          </a:xfrm>
          <a:prstGeom prst="rect">
            <a:avLst/>
          </a:prstGeom>
        </p:spPr>
        <p:txBody>
          <a:bodyPr lIns="0" tIns="0" rIns="0" bIns="0" rtlCol="0" anchor="t">
            <a:spAutoFit/>
          </a:bodyPr>
          <a:lstStyle/>
          <a:p>
            <a:pPr algn="l">
              <a:lnSpc>
                <a:spcPts val="3645"/>
              </a:lnSpc>
            </a:pPr>
            <a:r>
              <a:rPr lang="en-US" sz="3040" spc="-30">
                <a:solidFill>
                  <a:srgbClr val="F4F4F4"/>
                </a:solidFill>
                <a:latin typeface="Fira Sans" panose="020B0503050000020004"/>
              </a:rPr>
              <a:t>CREATE TABLE Payment (</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    payment_id VARCHAR(7) PRIMARY KEY,</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    payment_date DATE NOT NULL,</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    Payment_type VARCHAR(10) NOT NULL,</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    Customer_id VARCHAR(6) NOT NULL,</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    Cart_id VARCHAR(7) NOT NULL,</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    FOREIGN KEY (Customer_id) REFERENCES Customer(Customer_id),</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    FOREIGN KEY (Cart_id) REFERENCES Cart(Cart_id),</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    total_amount DECIMAL(10, 2)</a:t>
            </a:r>
            <a:endParaRPr lang="en-US" sz="3040" spc="-30">
              <a:solidFill>
                <a:srgbClr val="F4F4F4"/>
              </a:solidFill>
              <a:latin typeface="Fira Sans" panose="020B0503050000020004"/>
            </a:endParaRPr>
          </a:p>
          <a:p>
            <a:pPr algn="l">
              <a:lnSpc>
                <a:spcPts val="3645"/>
              </a:lnSpc>
            </a:pPr>
            <a:r>
              <a:rPr lang="en-US" sz="3040" spc="-30">
                <a:solidFill>
                  <a:srgbClr val="F4F4F4"/>
                </a:solidFill>
                <a:latin typeface="Fira Sans" panose="020B0503050000020004"/>
              </a:rPr>
              <a:t>);</a:t>
            </a:r>
            <a:endParaRPr lang="en-US" sz="3040" spc="-30">
              <a:solidFill>
                <a:srgbClr val="F4F4F4"/>
              </a:solidFill>
              <a:latin typeface="Fira Sans" panose="020B0503050000020004"/>
            </a:endParaRPr>
          </a:p>
          <a:p>
            <a:pPr algn="l">
              <a:lnSpc>
                <a:spcPts val="3645"/>
              </a:lnSpc>
            </a:pPr>
          </a:p>
          <a:p>
            <a:pPr algn="l">
              <a:lnSpc>
                <a:spcPts val="3645"/>
              </a:lnSpc>
            </a:pPr>
          </a:p>
          <a:p>
            <a:pPr marL="0" lvl="0" indent="0" algn="l">
              <a:lnSpc>
                <a:spcPts val="3645"/>
              </a:lnSpc>
              <a:spcBef>
                <a:spcPct val="0"/>
              </a:spcBef>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grpSp>
        <p:nvGrpSpPr>
          <p:cNvPr id="2" name="Group 2"/>
          <p:cNvGrpSpPr/>
          <p:nvPr/>
        </p:nvGrpSpPr>
        <p:grpSpPr>
          <a:xfrm rot="0">
            <a:off x="-2527743" y="-89986"/>
            <a:ext cx="10138115" cy="8779655"/>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id="4" name="Group 4"/>
          <p:cNvGrpSpPr/>
          <p:nvPr/>
        </p:nvGrpSpPr>
        <p:grpSpPr>
          <a:xfrm rot="0">
            <a:off x="2505679" y="5832746"/>
            <a:ext cx="5966980" cy="5167433"/>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sp>
      </p:grpSp>
      <p:sp>
        <p:nvSpPr>
          <p:cNvPr id="6" name="TextBox 6"/>
          <p:cNvSpPr txBox="1"/>
          <p:nvPr/>
        </p:nvSpPr>
        <p:spPr>
          <a:xfrm>
            <a:off x="8880151" y="583898"/>
            <a:ext cx="5870560" cy="3076575"/>
          </a:xfrm>
          <a:prstGeom prst="rect">
            <a:avLst/>
          </a:prstGeom>
        </p:spPr>
        <p:txBody>
          <a:bodyPr lIns="0" tIns="0" rIns="0" bIns="0" rtlCol="0" anchor="t">
            <a:spAutoFit/>
          </a:bodyPr>
          <a:lstStyle/>
          <a:p>
            <a:pPr algn="r">
              <a:lnSpc>
                <a:spcPts val="6885"/>
              </a:lnSpc>
            </a:pPr>
            <a:r>
              <a:rPr lang="en-US" sz="5735" spc="-57">
                <a:solidFill>
                  <a:srgbClr val="F4F4F4"/>
                </a:solidFill>
                <a:latin typeface="Fira Sans Bold" panose="020B0803050000020004"/>
              </a:rPr>
              <a:t>DML OPERATIONS</a:t>
            </a:r>
            <a:endParaRPr lang="en-US" sz="5735" spc="-57">
              <a:solidFill>
                <a:srgbClr val="F4F4F4"/>
              </a:solidFill>
              <a:latin typeface="Fira Sans Bold" panose="020B0803050000020004"/>
            </a:endParaRPr>
          </a:p>
          <a:p>
            <a:pPr algn="r">
              <a:lnSpc>
                <a:spcPts val="5590"/>
              </a:lnSpc>
            </a:pPr>
          </a:p>
          <a:p>
            <a:pPr algn="r">
              <a:lnSpc>
                <a:spcPts val="5590"/>
              </a:lnSpc>
            </a:pPr>
          </a:p>
          <a:p>
            <a:pPr marL="0" lvl="0" indent="0" algn="r">
              <a:lnSpc>
                <a:spcPts val="6330"/>
              </a:lnSpc>
              <a:spcBef>
                <a:spcPct val="0"/>
              </a:spcBef>
            </a:pPr>
          </a:p>
        </p:txBody>
      </p:sp>
      <p:sp>
        <p:nvSpPr>
          <p:cNvPr id="7" name="TextBox 7"/>
          <p:cNvSpPr txBox="1"/>
          <p:nvPr/>
        </p:nvSpPr>
        <p:spPr>
          <a:xfrm>
            <a:off x="8472660" y="1232042"/>
            <a:ext cx="9220935" cy="8334375"/>
          </a:xfrm>
          <a:prstGeom prst="rect">
            <a:avLst/>
          </a:prstGeom>
        </p:spPr>
        <p:txBody>
          <a:bodyPr lIns="0" tIns="0" rIns="0" bIns="0" rtlCol="0" anchor="t">
            <a:spAutoFit/>
          </a:bodyPr>
          <a:lstStyle/>
          <a:p>
            <a:pPr algn="l">
              <a:lnSpc>
                <a:spcPts val="3055"/>
              </a:lnSpc>
            </a:pPr>
          </a:p>
          <a:p>
            <a:pPr algn="l">
              <a:lnSpc>
                <a:spcPts val="3055"/>
              </a:lnSpc>
            </a:pPr>
          </a:p>
          <a:p>
            <a:pPr algn="l">
              <a:lnSpc>
                <a:spcPts val="3055"/>
              </a:lnSpc>
            </a:pPr>
          </a:p>
          <a:p>
            <a:pPr algn="l">
              <a:lnSpc>
                <a:spcPts val="4975"/>
              </a:lnSpc>
            </a:pPr>
            <a:r>
              <a:rPr lang="en-US" sz="4145" spc="-41">
                <a:solidFill>
                  <a:srgbClr val="F4F4F4"/>
                </a:solidFill>
                <a:latin typeface="Fira Sans Bold" panose="020B0803050000020004"/>
              </a:rPr>
              <a:t>Data Manipulation Language (DML) operations were conducted to insert, update, delete, and query data within the database. These operations facilitate the daily interactions with the database, enabling functionalities such as adding products to carts, placing orders, processing payments, and retrieving order histories.</a:t>
            </a:r>
            <a:endParaRPr lang="en-US" sz="4145" spc="-41">
              <a:solidFill>
                <a:srgbClr val="F4F4F4"/>
              </a:solidFill>
              <a:latin typeface="Fira Sans Bold" panose="020B0803050000020004"/>
            </a:endParaRPr>
          </a:p>
          <a:p>
            <a:pPr algn="l">
              <a:lnSpc>
                <a:spcPts val="3055"/>
              </a:lnSpc>
            </a:pPr>
          </a:p>
          <a:p>
            <a:pPr algn="l">
              <a:lnSpc>
                <a:spcPts val="3055"/>
              </a:lnSpc>
            </a:pPr>
          </a:p>
          <a:p>
            <a:pPr algn="l">
              <a:lnSpc>
                <a:spcPts val="3055"/>
              </a:lnSpc>
            </a:pPr>
          </a:p>
          <a:p>
            <a:pPr marL="0" lvl="0" indent="0" algn="l">
              <a:lnSpc>
                <a:spcPts val="3055"/>
              </a:lnSpc>
              <a:spcBef>
                <a:spcPct val="0"/>
              </a:spcBef>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431153" y="5453904"/>
            <a:ext cx="16828147" cy="4200974"/>
          </a:xfrm>
          <a:custGeom>
            <a:avLst/>
            <a:gdLst/>
            <a:ahLst/>
            <a:cxnLst/>
            <a:rect l="l" t="t" r="r" b="b"/>
            <a:pathLst>
              <a:path w="16828147" h="4200974">
                <a:moveTo>
                  <a:pt x="0" y="0"/>
                </a:moveTo>
                <a:lnTo>
                  <a:pt x="16828147" y="0"/>
                </a:lnTo>
                <a:lnTo>
                  <a:pt x="16828147" y="4200973"/>
                </a:lnTo>
                <a:lnTo>
                  <a:pt x="0" y="4200973"/>
                </a:lnTo>
                <a:lnTo>
                  <a:pt x="0" y="0"/>
                </a:lnTo>
                <a:close/>
              </a:path>
            </a:pathLst>
          </a:custGeom>
          <a:blipFill>
            <a:blip r:embed="rId1"/>
            <a:stretch>
              <a:fillRect l="-383" r="-1091" b="-2428"/>
            </a:stretch>
          </a:blipFill>
        </p:spPr>
      </p:sp>
      <p:sp>
        <p:nvSpPr>
          <p:cNvPr id="3" name="TextBox 3"/>
          <p:cNvSpPr txBox="1"/>
          <p:nvPr/>
        </p:nvSpPr>
        <p:spPr>
          <a:xfrm>
            <a:off x="620980" y="4698727"/>
            <a:ext cx="11325846" cy="1866900"/>
          </a:xfrm>
          <a:prstGeom prst="rect">
            <a:avLst/>
          </a:prstGeom>
        </p:spPr>
        <p:txBody>
          <a:bodyPr lIns="0" tIns="0" rIns="0" bIns="0" rtlCol="0" anchor="t">
            <a:spAutoFit/>
          </a:bodyPr>
          <a:lstStyle/>
          <a:p>
            <a:pPr algn="l">
              <a:lnSpc>
                <a:spcPts val="2935"/>
              </a:lnSpc>
            </a:pPr>
            <a:r>
              <a:rPr lang="en-US" sz="2445" spc="-24">
                <a:solidFill>
                  <a:srgbClr val="F4F4F4"/>
                </a:solidFill>
                <a:latin typeface="Fira Sans Bold" panose="020B0803050000020004"/>
              </a:rPr>
              <a:t>UPDATE Customer SET Cart_id = 'crt1021' WHERE Customer_id = 'cid101'</a:t>
            </a:r>
            <a:endParaRPr lang="en-US" sz="2445" spc="-24">
              <a:solidFill>
                <a:srgbClr val="F4F4F4"/>
              </a:solidFill>
              <a:latin typeface="Fira Sans Bold" panose="020B0803050000020004"/>
            </a:endParaRPr>
          </a:p>
          <a:p>
            <a:pPr algn="l">
              <a:lnSpc>
                <a:spcPts val="2935"/>
              </a:lnSpc>
            </a:pPr>
          </a:p>
          <a:p>
            <a:pPr algn="l">
              <a:lnSpc>
                <a:spcPts val="2935"/>
              </a:lnSpc>
            </a:pPr>
          </a:p>
          <a:p>
            <a:pPr algn="l">
              <a:lnSpc>
                <a:spcPts val="2935"/>
              </a:lnSpc>
            </a:pPr>
          </a:p>
          <a:p>
            <a:pPr marL="0" lvl="0" indent="0" algn="l">
              <a:lnSpc>
                <a:spcPts val="2935"/>
              </a:lnSpc>
              <a:spcBef>
                <a:spcPct val="0"/>
              </a:spcBef>
            </a:pPr>
          </a:p>
        </p:txBody>
      </p:sp>
      <p:sp>
        <p:nvSpPr>
          <p:cNvPr id="4" name="TextBox 4"/>
          <p:cNvSpPr txBox="1"/>
          <p:nvPr/>
        </p:nvSpPr>
        <p:spPr>
          <a:xfrm>
            <a:off x="620980" y="704058"/>
            <a:ext cx="10351041" cy="5176929"/>
          </a:xfrm>
          <a:prstGeom prst="rect">
            <a:avLst/>
          </a:prstGeom>
        </p:spPr>
        <p:txBody>
          <a:bodyPr lIns="0" tIns="0" rIns="0" bIns="0" rtlCol="0" anchor="t">
            <a:spAutoFit/>
          </a:bodyPr>
          <a:lstStyle/>
          <a:p>
            <a:pPr algn="l">
              <a:lnSpc>
                <a:spcPts val="3165"/>
              </a:lnSpc>
            </a:pPr>
            <a:r>
              <a:rPr lang="en-US" sz="2640" spc="-26">
                <a:solidFill>
                  <a:srgbClr val="F4F4F4"/>
                </a:solidFill>
                <a:latin typeface="Fira Sans Bold" panose="020B0803050000020004"/>
              </a:rPr>
              <a:t>INSERT INTO Customer (Customer_id, c_pass, Name, Address, Pincode, Phone_number_s, Cart_id)</a:t>
            </a:r>
            <a:endParaRPr lang="en-US" sz="2640" spc="-26">
              <a:solidFill>
                <a:srgbClr val="F4F4F4"/>
              </a:solidFill>
              <a:latin typeface="Fira Sans Bold" panose="020B0803050000020004"/>
            </a:endParaRPr>
          </a:p>
          <a:p>
            <a:pPr algn="l">
              <a:lnSpc>
                <a:spcPts val="3165"/>
              </a:lnSpc>
            </a:pPr>
            <a:r>
              <a:rPr lang="en-US" sz="2640" spc="-26">
                <a:solidFill>
                  <a:srgbClr val="F4F4F4"/>
                </a:solidFill>
                <a:latin typeface="Fira Sans Bold" panose="020B0803050000020004"/>
              </a:rPr>
              <a:t>VALUES </a:t>
            </a:r>
            <a:endParaRPr lang="en-US" sz="2640" spc="-26">
              <a:solidFill>
                <a:srgbClr val="F4F4F4"/>
              </a:solidFill>
              <a:latin typeface="Fira Sans Bold" panose="020B0803050000020004"/>
            </a:endParaRPr>
          </a:p>
          <a:p>
            <a:pPr algn="l">
              <a:lnSpc>
                <a:spcPts val="3165"/>
              </a:lnSpc>
            </a:pPr>
            <a:r>
              <a:rPr lang="en-US" sz="2640" spc="-26">
                <a:solidFill>
                  <a:srgbClr val="F4F4F4"/>
                </a:solidFill>
                <a:latin typeface="Fira Sans Bold" panose="020B0803050000020004"/>
              </a:rPr>
              <a:t>('cid101', 'pass101', 'Alice', 'A-123', '100001', '1234567890', 'crt1012'),</a:t>
            </a:r>
            <a:endParaRPr lang="en-US" sz="2640" spc="-26">
              <a:solidFill>
                <a:srgbClr val="F4F4F4"/>
              </a:solidFill>
              <a:latin typeface="Fira Sans Bold" panose="020B0803050000020004"/>
            </a:endParaRPr>
          </a:p>
          <a:p>
            <a:pPr algn="l">
              <a:lnSpc>
                <a:spcPts val="3165"/>
              </a:lnSpc>
            </a:pPr>
            <a:r>
              <a:rPr lang="en-US" sz="2640" spc="-26">
                <a:solidFill>
                  <a:srgbClr val="F4F4F4"/>
                </a:solidFill>
                <a:latin typeface="Fira Sans Bold" panose="020B0803050000020004"/>
              </a:rPr>
              <a:t>('cid102', 'pass102', 'Bob', 'B-456', '200002', '2345678901', 'crt1013'),</a:t>
            </a:r>
            <a:endParaRPr lang="en-US" sz="2640" spc="-26">
              <a:solidFill>
                <a:srgbClr val="F4F4F4"/>
              </a:solidFill>
              <a:latin typeface="Fira Sans Bold" panose="020B0803050000020004"/>
            </a:endParaRPr>
          </a:p>
          <a:p>
            <a:pPr algn="l">
              <a:lnSpc>
                <a:spcPts val="3165"/>
              </a:lnSpc>
            </a:pPr>
            <a:r>
              <a:rPr lang="en-US" sz="2640" spc="-26">
                <a:solidFill>
                  <a:srgbClr val="F4F4F4"/>
                </a:solidFill>
                <a:latin typeface="Fira Sans Bold" panose="020B0803050000020004"/>
              </a:rPr>
              <a:t>('cid103', 'pass103', 'Charlie', 'C-789', '300003', '3456789012', 'crt1014'),</a:t>
            </a:r>
            <a:endParaRPr lang="en-US" sz="2640" spc="-26">
              <a:solidFill>
                <a:srgbClr val="F4F4F4"/>
              </a:solidFill>
              <a:latin typeface="Fira Sans Bold" panose="020B0803050000020004"/>
            </a:endParaRPr>
          </a:p>
          <a:p>
            <a:pPr algn="l">
              <a:lnSpc>
                <a:spcPts val="3165"/>
              </a:lnSpc>
            </a:pPr>
            <a:r>
              <a:rPr lang="en-US" sz="2640" spc="-26">
                <a:solidFill>
                  <a:srgbClr val="F4F4F4"/>
                </a:solidFill>
                <a:latin typeface="Fira Sans Bold" panose="020B0803050000020004"/>
              </a:rPr>
              <a:t>('cid100', 'ABCM1235', 'rajat', 'G-453', '632014', '9893135876', 'crt1016'),</a:t>
            </a:r>
            <a:endParaRPr lang="en-US" sz="2640" spc="-26">
              <a:solidFill>
                <a:srgbClr val="F4F4F4"/>
              </a:solidFill>
              <a:latin typeface="Fira Sans Bold" panose="020B0803050000020004"/>
            </a:endParaRPr>
          </a:p>
          <a:p>
            <a:pPr algn="l">
              <a:lnSpc>
                <a:spcPts val="3165"/>
              </a:lnSpc>
            </a:pPr>
            <a:r>
              <a:rPr lang="en-US" sz="2640" spc="-26">
                <a:solidFill>
                  <a:srgbClr val="F4F4F4"/>
                </a:solidFill>
                <a:latin typeface="Fira Sans Bold" panose="020B0803050000020004"/>
              </a:rPr>
              <a:t>('cid104', 'pass104', 'David', 'D-789', '400004', '4567890123', 'crt1015'),</a:t>
            </a:r>
            <a:endParaRPr lang="en-US" sz="2640" spc="-26">
              <a:solidFill>
                <a:srgbClr val="F4F4F4"/>
              </a:solidFill>
              <a:latin typeface="Fira Sans Bold" panose="020B0803050000020004"/>
            </a:endParaRPr>
          </a:p>
          <a:p>
            <a:pPr algn="l">
              <a:lnSpc>
                <a:spcPts val="3165"/>
              </a:lnSpc>
            </a:pPr>
            <a:r>
              <a:rPr lang="en-US" sz="2640" spc="-26">
                <a:solidFill>
                  <a:srgbClr val="F4F4F4"/>
                </a:solidFill>
                <a:latin typeface="Fira Sans Bold" panose="020B0803050000020004"/>
              </a:rPr>
              <a:t>('cid105', 'pass105', 'Emily', 'E-012', '500005', '5678901234', 'crt1016');</a:t>
            </a:r>
            <a:endParaRPr lang="en-US" sz="2640" spc="-26">
              <a:solidFill>
                <a:srgbClr val="F4F4F4"/>
              </a:solidFill>
              <a:latin typeface="Fira Sans Bold" panose="020B0803050000020004"/>
            </a:endParaRPr>
          </a:p>
          <a:p>
            <a:pPr algn="l">
              <a:lnSpc>
                <a:spcPts val="3165"/>
              </a:lnSpc>
            </a:pPr>
          </a:p>
          <a:p>
            <a:pPr algn="l">
              <a:lnSpc>
                <a:spcPts val="3165"/>
              </a:lnSpc>
            </a:pPr>
          </a:p>
          <a:p>
            <a:pPr algn="l">
              <a:lnSpc>
                <a:spcPts val="3165"/>
              </a:lnSpc>
            </a:pPr>
          </a:p>
          <a:p>
            <a:pPr marL="0" lvl="0" indent="0" algn="l">
              <a:lnSpc>
                <a:spcPts val="3165"/>
              </a:lnSpc>
              <a:spcBef>
                <a:spcPct val="0"/>
              </a:spcBef>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5499427" y="2741048"/>
            <a:ext cx="12475157" cy="4766820"/>
          </a:xfrm>
          <a:custGeom>
            <a:avLst/>
            <a:gdLst/>
            <a:ahLst/>
            <a:cxnLst/>
            <a:rect l="l" t="t" r="r" b="b"/>
            <a:pathLst>
              <a:path w="12475157" h="4766820">
                <a:moveTo>
                  <a:pt x="0" y="0"/>
                </a:moveTo>
                <a:lnTo>
                  <a:pt x="12475157" y="0"/>
                </a:lnTo>
                <a:lnTo>
                  <a:pt x="12475157" y="4766820"/>
                </a:lnTo>
                <a:lnTo>
                  <a:pt x="0" y="4766820"/>
                </a:lnTo>
                <a:lnTo>
                  <a:pt x="0" y="0"/>
                </a:lnTo>
                <a:close/>
              </a:path>
            </a:pathLst>
          </a:custGeom>
          <a:blipFill>
            <a:blip r:embed="rId1"/>
            <a:stretch>
              <a:fillRect l="-4776" r="-1841"/>
            </a:stretch>
          </a:blipFill>
        </p:spPr>
      </p:sp>
      <p:sp>
        <p:nvSpPr>
          <p:cNvPr id="3" name="TextBox 3"/>
          <p:cNvSpPr txBox="1"/>
          <p:nvPr/>
        </p:nvSpPr>
        <p:spPr>
          <a:xfrm>
            <a:off x="449675" y="257953"/>
            <a:ext cx="4614537" cy="9296400"/>
          </a:xfrm>
          <a:prstGeom prst="rect">
            <a:avLst/>
          </a:prstGeom>
        </p:spPr>
        <p:txBody>
          <a:bodyPr lIns="0" tIns="0" rIns="0" bIns="0" rtlCol="0" anchor="t">
            <a:spAutoFit/>
          </a:bodyPr>
          <a:lstStyle/>
          <a:p>
            <a:pPr algn="l">
              <a:lnSpc>
                <a:spcPts val="2935"/>
              </a:lnSpc>
            </a:pPr>
            <a:r>
              <a:rPr lang="en-US" sz="2445" spc="-24">
                <a:solidFill>
                  <a:srgbClr val="F4F4F4"/>
                </a:solidFill>
                <a:latin typeface="Fira Sans Bold" panose="020B0803050000020004"/>
              </a:rPr>
              <a:t>INSERT INTO Product (Product_id, Type, Color, P_Size, Gender, Commission, Cost, Quantity, Seller_id)</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VALUES</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('pid1006', 'Electronics', 'orange', 'M', 'M', 15, 500, 50, 'sid101'), </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('pid1002', 'shirt', 'blue', 'M', 'M', 15, 500, 50, 'sid101'),</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('pid1003', 'dress', 'green', 'L', 'F', 20, 1500, 30, 'sid102'),</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('pid1004', 't-shirt', 'black', 'S', 'M', 10, 300, 100, 'sid103'),</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('pid1005', 'jeans', 'blue', '30', 'F', 12, 800, 25, 'sid100'),</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('pid1001', 'jeans', 'red', '32', 'M', 10, 1000.5, 20, 'sid100'),</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('pid1007', 'jeans', 'blue', '32', 'F', 12, 800, 25, 'sid101'),</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('pid1008', 'jeans', 'black', '32', 'F', 12, 750, 10, 'sid102'),</a:t>
            </a:r>
            <a:endParaRPr lang="en-US" sz="2445" spc="-24">
              <a:solidFill>
                <a:srgbClr val="F4F4F4"/>
              </a:solidFill>
              <a:latin typeface="Fira Sans Bold" panose="020B0803050000020004"/>
            </a:endParaRPr>
          </a:p>
          <a:p>
            <a:pPr algn="l">
              <a:lnSpc>
                <a:spcPts val="2935"/>
              </a:lnSpc>
            </a:pPr>
            <a:r>
              <a:rPr lang="en-US" sz="2445" spc="-24">
                <a:solidFill>
                  <a:srgbClr val="F4F4F4"/>
                </a:solidFill>
                <a:latin typeface="Fira Sans Bold" panose="020B0803050000020004"/>
              </a:rPr>
              <a:t>('pid1009', 'Clothing', 'White', 'S', 'F', 10, 700, 20, 'sid102'),</a:t>
            </a:r>
            <a:endParaRPr lang="en-US" sz="2445" spc="-24">
              <a:solidFill>
                <a:srgbClr val="F4F4F4"/>
              </a:solidFill>
              <a:latin typeface="Fira Sans Bold" panose="020B0803050000020004"/>
            </a:endParaRPr>
          </a:p>
          <a:p>
            <a:pPr marL="0" lvl="0" indent="0" algn="l">
              <a:lnSpc>
                <a:spcPts val="2935"/>
              </a:lnSpc>
              <a:spcBef>
                <a:spcPct val="0"/>
              </a:spcBef>
            </a:pPr>
            <a:r>
              <a:rPr lang="en-US" sz="2445" spc="-24">
                <a:solidFill>
                  <a:srgbClr val="F4F4F4"/>
                </a:solidFill>
                <a:latin typeface="Fira Sans Bold" panose="020B0803050000020004"/>
              </a:rPr>
              <a:t>('pid1011', 'jeans', 'blue', '32', 'F', 12, 700, 20, 'sid101');</a:t>
            </a:r>
            <a:endParaRPr lang="en-US" sz="2445" spc="-24">
              <a:solidFill>
                <a:srgbClr val="F4F4F4"/>
              </a:solidFill>
              <a:latin typeface="Fira Sans Bold" panose="020B08030500000200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500272" y="5384895"/>
            <a:ext cx="17134926" cy="3873405"/>
          </a:xfrm>
          <a:custGeom>
            <a:avLst/>
            <a:gdLst/>
            <a:ahLst/>
            <a:cxnLst/>
            <a:rect l="l" t="t" r="r" b="b"/>
            <a:pathLst>
              <a:path w="17134926" h="3873405">
                <a:moveTo>
                  <a:pt x="0" y="0"/>
                </a:moveTo>
                <a:lnTo>
                  <a:pt x="17134926" y="0"/>
                </a:lnTo>
                <a:lnTo>
                  <a:pt x="17134926" y="3873405"/>
                </a:lnTo>
                <a:lnTo>
                  <a:pt x="0" y="3873405"/>
                </a:lnTo>
                <a:lnTo>
                  <a:pt x="0" y="0"/>
                </a:lnTo>
                <a:close/>
              </a:path>
            </a:pathLst>
          </a:custGeom>
          <a:blipFill>
            <a:blip r:embed="rId1"/>
            <a:stretch>
              <a:fillRect t="-1755" b="-1755"/>
            </a:stretch>
          </a:blipFill>
        </p:spPr>
      </p:sp>
      <p:sp>
        <p:nvSpPr>
          <p:cNvPr id="3" name="TextBox 3"/>
          <p:cNvSpPr txBox="1"/>
          <p:nvPr/>
        </p:nvSpPr>
        <p:spPr>
          <a:xfrm>
            <a:off x="1028700" y="812935"/>
            <a:ext cx="9236975" cy="4000500"/>
          </a:xfrm>
          <a:prstGeom prst="rect">
            <a:avLst/>
          </a:prstGeom>
        </p:spPr>
        <p:txBody>
          <a:bodyPr lIns="0" tIns="0" rIns="0" bIns="0" rtlCol="0" anchor="t">
            <a:spAutoFit/>
          </a:bodyPr>
          <a:lstStyle/>
          <a:p>
            <a:pPr algn="l">
              <a:lnSpc>
                <a:spcPts val="4535"/>
              </a:lnSpc>
            </a:pPr>
            <a:r>
              <a:rPr lang="en-US" sz="3780" spc="-37">
                <a:solidFill>
                  <a:srgbClr val="F4F4F4"/>
                </a:solidFill>
                <a:latin typeface="Fira Sans Bold" panose="020B0803050000020004"/>
              </a:rPr>
              <a:t>INSERT INTO Order_Item (Order_item_id, Order_id, Product_id, Quantity, Unit_price)</a:t>
            </a:r>
            <a:endParaRPr lang="en-US" sz="3780" spc="-37">
              <a:solidFill>
                <a:srgbClr val="F4F4F4"/>
              </a:solidFill>
              <a:latin typeface="Fira Sans Bold" panose="020B0803050000020004"/>
            </a:endParaRPr>
          </a:p>
          <a:p>
            <a:pPr algn="l">
              <a:lnSpc>
                <a:spcPts val="4535"/>
              </a:lnSpc>
            </a:pPr>
            <a:r>
              <a:rPr lang="en-US" sz="3780" spc="-37">
                <a:solidFill>
                  <a:srgbClr val="F4F4F4"/>
                </a:solidFill>
                <a:latin typeface="Fira Sans Bold" panose="020B0803050000020004"/>
              </a:rPr>
              <a:t>VALUES </a:t>
            </a:r>
            <a:endParaRPr lang="en-US" sz="3780" spc="-37">
              <a:solidFill>
                <a:srgbClr val="F4F4F4"/>
              </a:solidFill>
              <a:latin typeface="Fira Sans Bold" panose="020B0803050000020004"/>
            </a:endParaRPr>
          </a:p>
          <a:p>
            <a:pPr algn="l">
              <a:lnSpc>
                <a:spcPts val="4535"/>
              </a:lnSpc>
            </a:pPr>
            <a:r>
              <a:rPr lang="en-US" sz="3780" spc="-37">
                <a:solidFill>
                  <a:srgbClr val="F4F4F4"/>
                </a:solidFill>
                <a:latin typeface="Fira Sans Bold" panose="020B0803050000020004"/>
              </a:rPr>
              <a:t>('oit001', 'ord001', 'pid1001', 2, 200),</a:t>
            </a:r>
            <a:endParaRPr lang="en-US" sz="3780" spc="-37">
              <a:solidFill>
                <a:srgbClr val="F4F4F4"/>
              </a:solidFill>
              <a:latin typeface="Fira Sans Bold" panose="020B0803050000020004"/>
            </a:endParaRPr>
          </a:p>
          <a:p>
            <a:pPr algn="l">
              <a:lnSpc>
                <a:spcPts val="4535"/>
              </a:lnSpc>
            </a:pPr>
            <a:r>
              <a:rPr lang="en-US" sz="3780" spc="-37">
                <a:solidFill>
                  <a:srgbClr val="F4F4F4"/>
                </a:solidFill>
                <a:latin typeface="Fira Sans Bold" panose="020B0803050000020004"/>
              </a:rPr>
              <a:t>('oit002', 'ord002', 'pid1002', 3, 300),</a:t>
            </a:r>
            <a:endParaRPr lang="en-US" sz="3780" spc="-37">
              <a:solidFill>
                <a:srgbClr val="F4F4F4"/>
              </a:solidFill>
              <a:latin typeface="Fira Sans Bold" panose="020B0803050000020004"/>
            </a:endParaRPr>
          </a:p>
          <a:p>
            <a:pPr algn="l">
              <a:lnSpc>
                <a:spcPts val="4535"/>
              </a:lnSpc>
            </a:pPr>
            <a:r>
              <a:rPr lang="en-US" sz="3780" spc="-37">
                <a:solidFill>
                  <a:srgbClr val="F4F4F4"/>
                </a:solidFill>
                <a:latin typeface="Fira Sans Bold" panose="020B0803050000020004"/>
              </a:rPr>
              <a:t>('oit003', 'ord003', 'pid1003', 1, 500),</a:t>
            </a:r>
            <a:endParaRPr lang="en-US" sz="3780" spc="-37">
              <a:solidFill>
                <a:srgbClr val="F4F4F4"/>
              </a:solidFill>
              <a:latin typeface="Fira Sans Bold" panose="020B0803050000020004"/>
            </a:endParaRPr>
          </a:p>
          <a:p>
            <a:pPr marL="0" lvl="0" indent="0" algn="l">
              <a:lnSpc>
                <a:spcPts val="4535"/>
              </a:lnSpc>
              <a:spcBef>
                <a:spcPct val="0"/>
              </a:spcBef>
            </a:pPr>
            <a:r>
              <a:rPr lang="en-US" sz="3780" spc="-37">
                <a:solidFill>
                  <a:srgbClr val="F4F4F4"/>
                </a:solidFill>
                <a:latin typeface="Fira Sans Bold" panose="020B0803050000020004"/>
              </a:rPr>
              <a:t>('oit004', 'ord004', 'pid1004', 2, 400);</a:t>
            </a:r>
            <a:endParaRPr lang="en-US" sz="3780" spc="-37">
              <a:solidFill>
                <a:srgbClr val="F4F4F4"/>
              </a:solidFill>
              <a:latin typeface="Fira Sans Bold" panose="020B08030500000200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grpSp>
        <p:nvGrpSpPr>
          <p:cNvPr id="2" name="Group 2"/>
          <p:cNvGrpSpPr/>
          <p:nvPr/>
        </p:nvGrpSpPr>
        <p:grpSpPr>
          <a:xfrm rot="0">
            <a:off x="-2527743" y="-89986"/>
            <a:ext cx="10138115" cy="8779655"/>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id="4" name="Group 4"/>
          <p:cNvGrpSpPr/>
          <p:nvPr/>
        </p:nvGrpSpPr>
        <p:grpSpPr>
          <a:xfrm rot="0">
            <a:off x="2505679" y="5832746"/>
            <a:ext cx="5966980" cy="5167433"/>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sp>
      </p:grpSp>
      <p:sp>
        <p:nvSpPr>
          <p:cNvPr id="6" name="TextBox 6"/>
          <p:cNvSpPr txBox="1"/>
          <p:nvPr/>
        </p:nvSpPr>
        <p:spPr>
          <a:xfrm>
            <a:off x="8880151" y="583898"/>
            <a:ext cx="5870560" cy="3076575"/>
          </a:xfrm>
          <a:prstGeom prst="rect">
            <a:avLst/>
          </a:prstGeom>
        </p:spPr>
        <p:txBody>
          <a:bodyPr lIns="0" tIns="0" rIns="0" bIns="0" rtlCol="0" anchor="t">
            <a:spAutoFit/>
          </a:bodyPr>
          <a:lstStyle/>
          <a:p>
            <a:pPr algn="ctr">
              <a:lnSpc>
                <a:spcPts val="6885"/>
              </a:lnSpc>
            </a:pPr>
            <a:r>
              <a:rPr lang="en-US" sz="5735" spc="-57">
                <a:solidFill>
                  <a:srgbClr val="F4F4F4"/>
                </a:solidFill>
                <a:latin typeface="Fira Sans Bold" panose="020B0803050000020004"/>
              </a:rPr>
              <a:t>JOINS</a:t>
            </a:r>
            <a:endParaRPr lang="en-US" sz="5735" spc="-57">
              <a:solidFill>
                <a:srgbClr val="F4F4F4"/>
              </a:solidFill>
              <a:latin typeface="Fira Sans Bold" panose="020B0803050000020004"/>
            </a:endParaRPr>
          </a:p>
          <a:p>
            <a:pPr algn="r">
              <a:lnSpc>
                <a:spcPts val="5590"/>
              </a:lnSpc>
            </a:pPr>
          </a:p>
          <a:p>
            <a:pPr algn="r">
              <a:lnSpc>
                <a:spcPts val="5590"/>
              </a:lnSpc>
            </a:pPr>
          </a:p>
          <a:p>
            <a:pPr marL="0" lvl="0" indent="0" algn="r">
              <a:lnSpc>
                <a:spcPts val="6330"/>
              </a:lnSpc>
              <a:spcBef>
                <a:spcPct val="0"/>
              </a:spcBef>
            </a:pPr>
          </a:p>
        </p:txBody>
      </p:sp>
      <p:sp>
        <p:nvSpPr>
          <p:cNvPr id="7" name="TextBox 7"/>
          <p:cNvSpPr txBox="1"/>
          <p:nvPr/>
        </p:nvSpPr>
        <p:spPr>
          <a:xfrm>
            <a:off x="7819906" y="2403741"/>
            <a:ext cx="9008747" cy="4187617"/>
          </a:xfrm>
          <a:prstGeom prst="rect">
            <a:avLst/>
          </a:prstGeom>
        </p:spPr>
        <p:txBody>
          <a:bodyPr lIns="0" tIns="0" rIns="0" bIns="0" rtlCol="0" anchor="t">
            <a:spAutoFit/>
          </a:bodyPr>
          <a:lstStyle/>
          <a:p>
            <a:pPr marL="0" lvl="0" indent="0" algn="l">
              <a:lnSpc>
                <a:spcPts val="5565"/>
              </a:lnSpc>
              <a:spcBef>
                <a:spcPct val="0"/>
              </a:spcBef>
            </a:pPr>
            <a:r>
              <a:rPr lang="en-US" sz="4635" spc="-46">
                <a:solidFill>
                  <a:srgbClr val="F4F4F4"/>
                </a:solidFill>
                <a:latin typeface="Fira Sans Bold" panose="020B0803050000020004"/>
              </a:rPr>
              <a:t> Joins are used to combine rows from two or more tables based on a related column between them. Joins allow you to retrieve data that is spread across multiple tables in a relational database.</a:t>
            </a:r>
            <a:endParaRPr lang="en-US" sz="4635" spc="-46">
              <a:solidFill>
                <a:srgbClr val="F4F4F4"/>
              </a:solidFill>
              <a:latin typeface="Fira Sans Bold" panose="020B08030500000200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910060" y="4644061"/>
            <a:ext cx="16349240" cy="4373022"/>
          </a:xfrm>
          <a:custGeom>
            <a:avLst/>
            <a:gdLst/>
            <a:ahLst/>
            <a:cxnLst/>
            <a:rect l="l" t="t" r="r" b="b"/>
            <a:pathLst>
              <a:path w="16349240" h="4373022">
                <a:moveTo>
                  <a:pt x="0" y="0"/>
                </a:moveTo>
                <a:lnTo>
                  <a:pt x="16349240" y="0"/>
                </a:lnTo>
                <a:lnTo>
                  <a:pt x="16349240" y="4373023"/>
                </a:lnTo>
                <a:lnTo>
                  <a:pt x="0" y="4373023"/>
                </a:lnTo>
                <a:lnTo>
                  <a:pt x="0" y="0"/>
                </a:lnTo>
                <a:close/>
              </a:path>
            </a:pathLst>
          </a:custGeom>
          <a:blipFill>
            <a:blip r:embed="rId1"/>
            <a:stretch>
              <a:fillRect l="-988" r="-6678"/>
            </a:stretch>
          </a:blipFill>
        </p:spPr>
      </p:sp>
      <p:sp>
        <p:nvSpPr>
          <p:cNvPr id="3" name="TextBox 3"/>
          <p:cNvSpPr txBox="1"/>
          <p:nvPr/>
        </p:nvSpPr>
        <p:spPr>
          <a:xfrm>
            <a:off x="1028700" y="779704"/>
            <a:ext cx="10808291" cy="2791744"/>
          </a:xfrm>
          <a:prstGeom prst="rect">
            <a:avLst/>
          </a:prstGeom>
        </p:spPr>
        <p:txBody>
          <a:bodyPr lIns="0" tIns="0" rIns="0" bIns="0" rtlCol="0" anchor="t">
            <a:spAutoFit/>
          </a:bodyPr>
          <a:lstStyle/>
          <a:p>
            <a:pPr algn="l">
              <a:lnSpc>
                <a:spcPts val="5565"/>
              </a:lnSpc>
            </a:pPr>
            <a:r>
              <a:rPr lang="en-US" sz="4635" spc="-46">
                <a:solidFill>
                  <a:srgbClr val="F4F4F4"/>
                </a:solidFill>
                <a:latin typeface="Fira Sans Bold" panose="020B0803050000020004"/>
              </a:rPr>
              <a:t>SELECT Product_id, Color, Cost, Seller_id </a:t>
            </a:r>
            <a:endParaRPr lang="en-US" sz="4635" spc="-46">
              <a:solidFill>
                <a:srgbClr val="F4F4F4"/>
              </a:solidFill>
              <a:latin typeface="Fira Sans Bold" panose="020B0803050000020004"/>
            </a:endParaRPr>
          </a:p>
          <a:p>
            <a:pPr algn="l">
              <a:lnSpc>
                <a:spcPts val="5565"/>
              </a:lnSpc>
            </a:pPr>
            <a:r>
              <a:rPr lang="en-US" sz="4635" spc="-46">
                <a:solidFill>
                  <a:srgbClr val="F4F4F4"/>
                </a:solidFill>
                <a:latin typeface="Fira Sans Bold" panose="020B0803050000020004"/>
              </a:rPr>
              <a:t>FROM Product </a:t>
            </a:r>
            <a:endParaRPr lang="en-US" sz="4635" spc="-46">
              <a:solidFill>
                <a:srgbClr val="F4F4F4"/>
              </a:solidFill>
              <a:latin typeface="Fira Sans Bold" panose="020B0803050000020004"/>
            </a:endParaRPr>
          </a:p>
          <a:p>
            <a:pPr marL="0" lvl="0" indent="0" algn="l">
              <a:lnSpc>
                <a:spcPts val="5565"/>
              </a:lnSpc>
              <a:spcBef>
                <a:spcPct val="0"/>
              </a:spcBef>
            </a:pPr>
            <a:r>
              <a:rPr lang="en-US" sz="4635" spc="-46">
                <a:solidFill>
                  <a:srgbClr val="F4F4F4"/>
                </a:solidFill>
                <a:latin typeface="Fira Sans Bold" panose="020B0803050000020004"/>
              </a:rPr>
              <a:t>WHERE Type = 'jeans' AND P_Size = '32' AND Gender = 'F' AND Quantity &gt; 0;</a:t>
            </a:r>
            <a:endParaRPr lang="en-US" sz="4635" spc="-46">
              <a:solidFill>
                <a:srgbClr val="F4F4F4"/>
              </a:solidFill>
              <a:latin typeface="Fira Sans Bold" panose="020B08030500000200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441818" y="5400578"/>
            <a:ext cx="16817482" cy="2592099"/>
          </a:xfrm>
          <a:custGeom>
            <a:avLst/>
            <a:gdLst/>
            <a:ahLst/>
            <a:cxnLst/>
            <a:rect l="l" t="t" r="r" b="b"/>
            <a:pathLst>
              <a:path w="16817482" h="2592099">
                <a:moveTo>
                  <a:pt x="0" y="0"/>
                </a:moveTo>
                <a:lnTo>
                  <a:pt x="16817482" y="0"/>
                </a:lnTo>
                <a:lnTo>
                  <a:pt x="16817482" y="2592099"/>
                </a:lnTo>
                <a:lnTo>
                  <a:pt x="0" y="2592099"/>
                </a:lnTo>
                <a:lnTo>
                  <a:pt x="0" y="0"/>
                </a:lnTo>
                <a:close/>
              </a:path>
            </a:pathLst>
          </a:custGeom>
          <a:blipFill>
            <a:blip r:embed="rId1"/>
            <a:stretch>
              <a:fillRect l="-151" r="-151"/>
            </a:stretch>
          </a:blipFill>
        </p:spPr>
      </p:sp>
      <p:sp>
        <p:nvSpPr>
          <p:cNvPr id="3" name="TextBox 3"/>
          <p:cNvSpPr txBox="1"/>
          <p:nvPr/>
        </p:nvSpPr>
        <p:spPr>
          <a:xfrm>
            <a:off x="441818" y="1028700"/>
            <a:ext cx="16817482" cy="2791744"/>
          </a:xfrm>
          <a:prstGeom prst="rect">
            <a:avLst/>
          </a:prstGeom>
        </p:spPr>
        <p:txBody>
          <a:bodyPr lIns="0" tIns="0" rIns="0" bIns="0" rtlCol="0" anchor="t">
            <a:spAutoFit/>
          </a:bodyPr>
          <a:lstStyle/>
          <a:p>
            <a:pPr algn="l">
              <a:lnSpc>
                <a:spcPts val="5565"/>
              </a:lnSpc>
            </a:pPr>
            <a:r>
              <a:rPr lang="en-US" sz="4635" spc="-46">
                <a:solidFill>
                  <a:srgbClr val="F4F4F4"/>
                </a:solidFill>
                <a:latin typeface="Fira Sans Bold" panose="020B0803050000020004"/>
              </a:rPr>
              <a:t>SELECT oi.Product_id, oi.Quantity, po.Order_date, oi.Unit_price</a:t>
            </a:r>
            <a:endParaRPr lang="en-US" sz="4635" spc="-46">
              <a:solidFill>
                <a:srgbClr val="F4F4F4"/>
              </a:solidFill>
              <a:latin typeface="Fira Sans Bold" panose="020B0803050000020004"/>
            </a:endParaRPr>
          </a:p>
          <a:p>
            <a:pPr algn="l">
              <a:lnSpc>
                <a:spcPts val="5565"/>
              </a:lnSpc>
            </a:pPr>
            <a:r>
              <a:rPr lang="en-US" sz="4635" spc="-46">
                <a:solidFill>
                  <a:srgbClr val="F4F4F4"/>
                </a:solidFill>
                <a:latin typeface="Fira Sans Bold" panose="020B0803050000020004"/>
              </a:rPr>
              <a:t>FROM Purchase_Order po</a:t>
            </a:r>
            <a:endParaRPr lang="en-US" sz="4635" spc="-46">
              <a:solidFill>
                <a:srgbClr val="F4F4F4"/>
              </a:solidFill>
              <a:latin typeface="Fira Sans Bold" panose="020B0803050000020004"/>
            </a:endParaRPr>
          </a:p>
          <a:p>
            <a:pPr algn="l">
              <a:lnSpc>
                <a:spcPts val="5565"/>
              </a:lnSpc>
            </a:pPr>
            <a:r>
              <a:rPr lang="en-US" sz="4635" spc="-46">
                <a:solidFill>
                  <a:srgbClr val="F4F4F4"/>
                </a:solidFill>
                <a:latin typeface="Fira Sans Bold" panose="020B0803050000020004"/>
              </a:rPr>
              <a:t>JOIN Order_Item oi ON po.Order_id = oi.Order_id</a:t>
            </a:r>
            <a:endParaRPr lang="en-US" sz="4635" spc="-46">
              <a:solidFill>
                <a:srgbClr val="F4F4F4"/>
              </a:solidFill>
              <a:latin typeface="Fira Sans Bold" panose="020B0803050000020004"/>
            </a:endParaRPr>
          </a:p>
          <a:p>
            <a:pPr marL="0" lvl="0" indent="0" algn="l">
              <a:lnSpc>
                <a:spcPts val="5565"/>
              </a:lnSpc>
              <a:spcBef>
                <a:spcPct val="0"/>
              </a:spcBef>
            </a:pPr>
            <a:r>
              <a:rPr lang="en-US" sz="4635" spc="-46">
                <a:solidFill>
                  <a:srgbClr val="F4F4F4"/>
                </a:solidFill>
                <a:latin typeface="Fira Sans Bold" panose="020B0803050000020004"/>
              </a:rPr>
              <a:t>WHERE po.Customer_id = 'cid101';</a:t>
            </a:r>
            <a:endParaRPr lang="en-US" sz="4635" spc="-46">
              <a:solidFill>
                <a:srgbClr val="F4F4F4"/>
              </a:solidFill>
              <a:latin typeface="Fira Sans Bold" panose="020B08030500000200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Freeform 2"/>
          <p:cNvSpPr/>
          <p:nvPr/>
        </p:nvSpPr>
        <p:spPr>
          <a:xfrm>
            <a:off x="0" y="5400578"/>
            <a:ext cx="18288000" cy="1821033"/>
          </a:xfrm>
          <a:custGeom>
            <a:avLst/>
            <a:gdLst/>
            <a:ahLst/>
            <a:cxnLst/>
            <a:rect l="l" t="t" r="r" b="b"/>
            <a:pathLst>
              <a:path w="18288000" h="1821033">
                <a:moveTo>
                  <a:pt x="0" y="0"/>
                </a:moveTo>
                <a:lnTo>
                  <a:pt x="18288000" y="0"/>
                </a:lnTo>
                <a:lnTo>
                  <a:pt x="18288000" y="1821032"/>
                </a:lnTo>
                <a:lnTo>
                  <a:pt x="0" y="1821032"/>
                </a:lnTo>
                <a:lnTo>
                  <a:pt x="0" y="0"/>
                </a:lnTo>
                <a:close/>
              </a:path>
            </a:pathLst>
          </a:custGeom>
          <a:blipFill>
            <a:blip r:embed="rId1"/>
            <a:stretch>
              <a:fillRect l="-1054" t="-12996" r="-5055" b="-124"/>
            </a:stretch>
          </a:blipFill>
        </p:spPr>
      </p:sp>
      <p:sp>
        <p:nvSpPr>
          <p:cNvPr id="3" name="TextBox 3"/>
          <p:cNvSpPr txBox="1"/>
          <p:nvPr/>
        </p:nvSpPr>
        <p:spPr>
          <a:xfrm>
            <a:off x="441818" y="258221"/>
            <a:ext cx="16817482" cy="4187617"/>
          </a:xfrm>
          <a:prstGeom prst="rect">
            <a:avLst/>
          </a:prstGeom>
        </p:spPr>
        <p:txBody>
          <a:bodyPr lIns="0" tIns="0" rIns="0" bIns="0" rtlCol="0" anchor="t">
            <a:spAutoFit/>
          </a:bodyPr>
          <a:lstStyle/>
          <a:p>
            <a:pPr algn="l">
              <a:lnSpc>
                <a:spcPts val="5565"/>
              </a:lnSpc>
            </a:pPr>
            <a:r>
              <a:rPr lang="en-US" sz="4635" spc="-46">
                <a:solidFill>
                  <a:srgbClr val="F4F4F4"/>
                </a:solidFill>
                <a:latin typeface="Fira Sans Bold" panose="020B0803050000020004"/>
              </a:rPr>
              <a:t>SELECT po.Order_id, po.Order_date, oi.Product_id, oi.Quantity, oi.Unit_price, p.Type, p.Color</a:t>
            </a:r>
            <a:endParaRPr lang="en-US" sz="4635" spc="-46">
              <a:solidFill>
                <a:srgbClr val="F4F4F4"/>
              </a:solidFill>
              <a:latin typeface="Fira Sans Bold" panose="020B0803050000020004"/>
            </a:endParaRPr>
          </a:p>
          <a:p>
            <a:pPr algn="l">
              <a:lnSpc>
                <a:spcPts val="5565"/>
              </a:lnSpc>
            </a:pPr>
            <a:r>
              <a:rPr lang="en-US" sz="4635" spc="-46">
                <a:solidFill>
                  <a:srgbClr val="F4F4F4"/>
                </a:solidFill>
                <a:latin typeface="Fira Sans Bold" panose="020B0803050000020004"/>
              </a:rPr>
              <a:t>FROM Purchase_Order po</a:t>
            </a:r>
            <a:endParaRPr lang="en-US" sz="4635" spc="-46">
              <a:solidFill>
                <a:srgbClr val="F4F4F4"/>
              </a:solidFill>
              <a:latin typeface="Fira Sans Bold" panose="020B0803050000020004"/>
            </a:endParaRPr>
          </a:p>
          <a:p>
            <a:pPr algn="l">
              <a:lnSpc>
                <a:spcPts val="5565"/>
              </a:lnSpc>
            </a:pPr>
            <a:r>
              <a:rPr lang="en-US" sz="4635" spc="-46">
                <a:solidFill>
                  <a:srgbClr val="F4F4F4"/>
                </a:solidFill>
                <a:latin typeface="Fira Sans Bold" panose="020B0803050000020004"/>
              </a:rPr>
              <a:t>JOIN Order_Item oi ON po.Order_id = oi.Order_id</a:t>
            </a:r>
            <a:endParaRPr lang="en-US" sz="4635" spc="-46">
              <a:solidFill>
                <a:srgbClr val="F4F4F4"/>
              </a:solidFill>
              <a:latin typeface="Fira Sans Bold" panose="020B0803050000020004"/>
            </a:endParaRPr>
          </a:p>
          <a:p>
            <a:pPr algn="l">
              <a:lnSpc>
                <a:spcPts val="5565"/>
              </a:lnSpc>
            </a:pPr>
            <a:r>
              <a:rPr lang="en-US" sz="4635" spc="-46">
                <a:solidFill>
                  <a:srgbClr val="F4F4F4"/>
                </a:solidFill>
                <a:latin typeface="Fira Sans Bold" panose="020B0803050000020004"/>
              </a:rPr>
              <a:t>JOIN Product p ON oi.Product_id = p.Product_id</a:t>
            </a:r>
            <a:endParaRPr lang="en-US" sz="4635" spc="-46">
              <a:solidFill>
                <a:srgbClr val="F4F4F4"/>
              </a:solidFill>
              <a:latin typeface="Fira Sans Bold" panose="020B0803050000020004"/>
            </a:endParaRPr>
          </a:p>
          <a:p>
            <a:pPr marL="0" lvl="0" indent="0" algn="l">
              <a:lnSpc>
                <a:spcPts val="5565"/>
              </a:lnSpc>
              <a:spcBef>
                <a:spcPct val="0"/>
              </a:spcBef>
            </a:pPr>
            <a:r>
              <a:rPr lang="en-US" sz="4635" spc="-46">
                <a:solidFill>
                  <a:srgbClr val="F4F4F4"/>
                </a:solidFill>
                <a:latin typeface="Fira Sans Bold" panose="020B0803050000020004"/>
              </a:rPr>
              <a:t>WHERE po.Customer_id = 'cid101';</a:t>
            </a:r>
            <a:endParaRPr lang="en-US" sz="4635" spc="-46">
              <a:solidFill>
                <a:srgbClr val="F4F4F4"/>
              </a:solidFill>
              <a:latin typeface="Fira Sans Bold" panose="020B08030500000200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TextBox 2"/>
          <p:cNvSpPr txBox="1"/>
          <p:nvPr/>
        </p:nvSpPr>
        <p:spPr>
          <a:xfrm>
            <a:off x="441818" y="4263273"/>
            <a:ext cx="16817482" cy="1238250"/>
          </a:xfrm>
          <a:prstGeom prst="rect">
            <a:avLst/>
          </a:prstGeom>
        </p:spPr>
        <p:txBody>
          <a:bodyPr lIns="0" tIns="0" rIns="0" bIns="0" rtlCol="0" anchor="t">
            <a:spAutoFit/>
          </a:bodyPr>
          <a:lstStyle/>
          <a:p>
            <a:pPr marL="0" lvl="0" indent="0" algn="ctr">
              <a:lnSpc>
                <a:spcPts val="9765"/>
              </a:lnSpc>
              <a:spcBef>
                <a:spcPct val="0"/>
              </a:spcBef>
            </a:pPr>
            <a:r>
              <a:rPr lang="en-US" sz="8135" spc="-81">
                <a:solidFill>
                  <a:srgbClr val="F4F4F4"/>
                </a:solidFill>
                <a:latin typeface="Fira Sans Bold" panose="020B0803050000020004"/>
              </a:rPr>
              <a:t>THANK YOU !</a:t>
            </a:r>
            <a:endParaRPr lang="en-US" sz="8135" spc="-81">
              <a:solidFill>
                <a:srgbClr val="F4F4F4"/>
              </a:solidFill>
              <a:latin typeface="Fira Sans Bold" panose="020B08030500000200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4676</Words>
  <Application>WPS Presentation</Application>
  <PresentationFormat>On-screen Show (4:3)</PresentationFormat>
  <Paragraphs>157</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Fira Sans Bold</vt:lpstr>
      <vt:lpstr>Fira Sans</vt:lpstr>
      <vt:lpstr>Be Vietnam Medium</vt:lpstr>
      <vt:lpstr>Finger Paint</vt:lpstr>
      <vt:lpstr>Fira Sans Medium</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Internal Deck Presentation</dc:title>
  <dc:creator/>
  <cp:lastModifiedBy>DANISH LAPTOP</cp:lastModifiedBy>
  <cp:revision>2</cp:revision>
  <dcterms:created xsi:type="dcterms:W3CDTF">2006-08-16T00:00:00Z</dcterms:created>
  <dcterms:modified xsi:type="dcterms:W3CDTF">2025-12-29T15:09:38Z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9B63DB756E2D4482852DFCACCA4EAE7D_12</vt:lpwstr>
  </property>
  <property fmtid="{D5CDD505-2E9C-101B-9397-08002B2CF9AE}" pid="3" name="KSOProductBuildVer">
    <vt:lpwstr>1033-12.2.0.23196</vt:lpwstr>
  </property>
</Properties>
</file>